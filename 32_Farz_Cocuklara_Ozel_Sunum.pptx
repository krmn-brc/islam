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43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44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1B843"/>
                </a:solidFill>
                <a:latin typeface="Aptos"/>
              </a:rPr>
              <a:t>🌟 32 FARZ 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Aptos"/>
              </a:rPr>
              <a:t>Çocuklarla Öğrenelim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0">
                <a:solidFill>
                  <a:srgbClr val="F0F5F6"/>
                </a:solidFill>
                <a:latin typeface="Aptos"/>
              </a:rPr>
              <a:t>Hikâyeler • Sorular • Günlük Hayattan Örnekler • Mini Oyunlar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983480"/>
            <a:ext cx="10149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1B843"/>
                </a:solidFill>
                <a:latin typeface="Aptos"/>
              </a:rPr>
              <a:t>😊 Öğrenelim, düşünelim, güzel davranalım!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🎈 Bugün Nasıl Öğreneceğiz?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474720" cy="3474720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📖 Hikâye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21408"/>
            <a:ext cx="3017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363636"/>
                </a:solidFill>
                <a:latin typeface="Aptos"/>
              </a:rPr>
              <a:t>Her konuda küçük bir günlük hayat hikâyesi dinleyeceğiz.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63040"/>
            <a:ext cx="3474720" cy="3474720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64592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❓ Soru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2121408"/>
            <a:ext cx="3017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363636"/>
                </a:solidFill>
                <a:latin typeface="Aptos"/>
              </a:rPr>
              <a:t>Bazen sana “Sen olsaydın ne yapardın?” diye soracağız.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463040"/>
            <a:ext cx="3474720" cy="3474720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64592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🎯 Mini görev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0183" y="2121408"/>
            <a:ext cx="3017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363636"/>
                </a:solidFill>
                <a:latin typeface="Aptos"/>
              </a:rPr>
              <a:t>Küçük oyunlarla öğrendiklerimizi hatırlayacağız.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6857E"/>
                </a:solidFill>
                <a:latin typeface="Aptos"/>
              </a:rPr>
              <a:t>Kuralımız: Anlamadığımız yerde soru sormak serbest! 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🗺️ 32 Farzın Haritası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429000" cy="1463040"/>
          </a:xfrm>
          <a:prstGeom prst="roundRect">
            <a:avLst/>
          </a:prstGeom>
          <a:solidFill>
            <a:srgbClr val="E1EF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709928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1B843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39" y="1764792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94359"/>
                </a:solidFill>
                <a:latin typeface="Aptos"/>
              </a:rPr>
              <a:t>İman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08760"/>
            <a:ext cx="3429000" cy="1463040"/>
          </a:xfrm>
          <a:prstGeom prst="roundRect">
            <a:avLst/>
          </a:prstGeom>
          <a:solidFill>
            <a:srgbClr val="FFF4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09928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1B843"/>
                </a:solidFill>
                <a:latin typeface="Aptos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764792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94359"/>
                </a:solidFill>
                <a:latin typeface="Aptos"/>
              </a:rPr>
              <a:t>İslam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08760"/>
            <a:ext cx="3429000" cy="1463040"/>
          </a:xfrm>
          <a:prstGeom prst="roundRect">
            <a:avLst/>
          </a:prstGeom>
          <a:solidFill>
            <a:srgbClr val="E4F3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709928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1B843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1764792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94359"/>
                </a:solidFill>
                <a:latin typeface="Aptos"/>
              </a:rPr>
              <a:t>Abdest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3429000" cy="1463040"/>
          </a:xfrm>
          <a:prstGeom prst="roundRect">
            <a:avLst/>
          </a:prstGeom>
          <a:solidFill>
            <a:srgbClr val="FCE5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675887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1B843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39" y="3730752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94359"/>
                </a:solidFill>
                <a:latin typeface="Aptos"/>
              </a:rPr>
              <a:t>Gusül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474720"/>
            <a:ext cx="3429000" cy="1463040"/>
          </a:xfrm>
          <a:prstGeom prst="roundRect">
            <a:avLst/>
          </a:prstGeom>
          <a:solidFill>
            <a:srgbClr val="EDE7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75887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1B843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730752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94359"/>
                </a:solidFill>
                <a:latin typeface="Aptos"/>
              </a:rPr>
              <a:t>Teyemmüm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474720"/>
            <a:ext cx="3429000" cy="1463040"/>
          </a:xfrm>
          <a:prstGeom prst="round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675887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1B843"/>
                </a:solidFill>
                <a:latin typeface="Aptos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730752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94359"/>
                </a:solidFill>
                <a:latin typeface="Aptos"/>
              </a:rPr>
              <a:t>Namaz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6857E"/>
                </a:solidFill>
                <a:latin typeface="Aptos"/>
              </a:rPr>
              <a:t>6 + 5 + 4 + 3 + 2 + 12 = 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🌟 İmanın 1. Farzı: Allah'a İman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🟦 İmanın 6 Farzı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874519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💡 Bu ne demek?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Allah'ın var ve bir olduğuna, O'nun her şeyi bildiğine ve gördüğüne inanmak.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📖 Mini hikâye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Ece okul koridorunda bir kalem buldu. Etrafta kimse yoktu. “Nasıl olsa kimse görmedi” demek yerine sahibini aradı.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429000" cy="1874519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9915B"/>
                </a:solidFill>
                <a:latin typeface="Aptos"/>
              </a:rPr>
              <a:t>🏠 Hayatımızda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Okulda kimse görmese bile doğru olanı seçmek.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5486400" cy="1920240"/>
          </a:xfrm>
          <a:prstGeom prst="roundRect">
            <a:avLst/>
          </a:prstGeom>
          <a:solidFill>
            <a:srgbClr val="FCE5E2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D7466"/>
                </a:solidFill>
                <a:latin typeface="Aptos"/>
              </a:rPr>
              <a:t>❓ Sana bir soru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0248"/>
            <a:ext cx="5029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63636"/>
                </a:solidFill>
                <a:latin typeface="Aptos"/>
              </a:rPr>
              <a:t>Kimse görmezken de güzel davranmak neden önemli?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1B843"/>
                </a:solidFill>
                <a:latin typeface="Aptos"/>
              </a:rPr>
              <a:t>⭐ Aklımda kalsın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4892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363636"/>
                </a:solidFill>
                <a:latin typeface="Aptos"/>
              </a:rPr>
              <a:t>🌟 Allah'a iman, doğruyu yalnızken de seçmemize yardım eder.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🌟 İmanın 2. Farzı: Meleklere İman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🟦 İmanın 6 Farzı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874519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💡 Bu ne demek?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Allah'ın yarattığı ve O'nun emirlerini yerine getiren meleklere inanmaktır.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📖 Mini hikâye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Mert, evde kimsenin görmediği bir iyilik yaptı. İyiliğin değerini sadece insanların görmesine bağlamadı.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429000" cy="1874519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9915B"/>
                </a:solidFill>
                <a:latin typeface="Aptos"/>
              </a:rPr>
              <a:t>🏠 Hayatımızda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Görünmeyen ama görev yapan varlıkların da Allah'ın emrinde olduğunu öğrenmek.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5486400" cy="1920240"/>
          </a:xfrm>
          <a:prstGeom prst="roundRect">
            <a:avLst/>
          </a:prstGeom>
          <a:solidFill>
            <a:srgbClr val="FCE5E2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D7466"/>
                </a:solidFill>
                <a:latin typeface="Aptos"/>
              </a:rPr>
              <a:t>❓ Sana bir soru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0248"/>
            <a:ext cx="5029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63636"/>
                </a:solidFill>
                <a:latin typeface="Aptos"/>
              </a:rPr>
              <a:t>İyilik yaparken alkış beklememek güzel bir davranış olabilir mi?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1B843"/>
                </a:solidFill>
                <a:latin typeface="Aptos"/>
              </a:rPr>
              <a:t>⭐ Aklımda kalsın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4892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363636"/>
                </a:solidFill>
                <a:latin typeface="Aptos"/>
              </a:rPr>
              <a:t>🌟 İyiliği sadece övgü için değil, Allah rızası için yapmayı öğreniriz.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🌟 İmanın 3. Farzı: Kitaplara İman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🟦 İmanın 6 Farzı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874519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💡 Bu ne demek?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Allah'ın peygamberlerine gönderdiği ilahî kitaplara inanmak ve özellikle Kur'an'ı rehber kabul etmektir.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📖 Mini hikâye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Zeynep bir şeyi sadece ezberlemek yerine anlamını öğrenmek istedi. Çünkü öğrendiği bilginin hayatına yön vermesini istedi.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429000" cy="1874519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9915B"/>
                </a:solidFill>
                <a:latin typeface="Aptos"/>
              </a:rPr>
              <a:t>🏠 Hayatımızda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Kur'an okumak, anlamını öğrenmek ve öğrendiğimiz güzel öğütleri uygulamaya çalışmak.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5486400" cy="1920240"/>
          </a:xfrm>
          <a:prstGeom prst="roundRect">
            <a:avLst/>
          </a:prstGeom>
          <a:solidFill>
            <a:srgbClr val="FCE5E2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D7466"/>
                </a:solidFill>
                <a:latin typeface="Aptos"/>
              </a:rPr>
              <a:t>❓ Sana bir soru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0248"/>
            <a:ext cx="5029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63636"/>
                </a:solidFill>
                <a:latin typeface="Aptos"/>
              </a:rPr>
              <a:t>Bir ayetin veya duanın anlamını öğrenmek sana ne kazandırır?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1B843"/>
                </a:solidFill>
                <a:latin typeface="Aptos"/>
              </a:rPr>
              <a:t>⭐ Aklımda kalsın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4892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363636"/>
                </a:solidFill>
                <a:latin typeface="Aptos"/>
              </a:rPr>
              <a:t>🌟 Güzel bilgiyi öğrenmek kadar hayata geçirmek de önemlidir.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🌟 İmanın 4. Farzı: Peygamberlere İman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🟦 İmanın 6 Farzı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874519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💡 Bu ne demek?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Allah'ın gönderdiği peygamberlerin hepsine iman etmek; Hz. Muhammed'i son peygamber kabul etmektir.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📖 Mini hikâye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Ali, arkadaşının hatasını herkesin önünde söylemek yerine onu kırmadan uyarmayı seçti. Peygamberimizin güzel ahlakını hatırladı.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429000" cy="1874519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9915B"/>
                </a:solidFill>
                <a:latin typeface="Aptos"/>
              </a:rPr>
              <a:t>🏠 Hayatımızda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Doğruluk, merhamet, sabır ve güzel söz gibi davranışları örnek almak.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5486400" cy="1920240"/>
          </a:xfrm>
          <a:prstGeom prst="roundRect">
            <a:avLst/>
          </a:prstGeom>
          <a:solidFill>
            <a:srgbClr val="FCE5E2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D7466"/>
                </a:solidFill>
                <a:latin typeface="Aptos"/>
              </a:rPr>
              <a:t>❓ Sana bir soru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0248"/>
            <a:ext cx="5029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63636"/>
                </a:solidFill>
                <a:latin typeface="Aptos"/>
              </a:rPr>
              <a:t>Peygamberimizin hangi güzel davranışını bugün deneyebilirsin?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1B843"/>
                </a:solidFill>
                <a:latin typeface="Aptos"/>
              </a:rPr>
              <a:t>⭐ Aklımda kalsın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4892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363636"/>
                </a:solidFill>
                <a:latin typeface="Aptos"/>
              </a:rPr>
              <a:t>🌟 Peygamberimizi sevmek, güzel ahlakını örneklemeye çalışmaktır.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🌟 İmanın 5. Farzı: Ahirete İman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🟦 İmanın 6 Farzı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874519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💡 Bu ne demek?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Ölümden sonra diriliş ve hesap gününün olduğuna iman etmektir.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📖 Mini hikâye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Can, yaptığı bir şakanın arkadaşını üzdüğünü fark etti. “Kimse önemsemez” demek yerine özür diledi ve davranışını düzeltti.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429000" cy="1874519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9915B"/>
                </a:solidFill>
                <a:latin typeface="Aptos"/>
              </a:rPr>
              <a:t>🏠 Hayatımızda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Yaptığımız davranışların bir sonucu olduğunu bilmek, bizi daha sorumlu yapar.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5486400" cy="1920240"/>
          </a:xfrm>
          <a:prstGeom prst="roundRect">
            <a:avLst/>
          </a:prstGeom>
          <a:solidFill>
            <a:srgbClr val="FCE5E2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D7466"/>
                </a:solidFill>
                <a:latin typeface="Aptos"/>
              </a:rPr>
              <a:t>❓ Sana bir soru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0248"/>
            <a:ext cx="5029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63636"/>
                </a:solidFill>
                <a:latin typeface="Aptos"/>
              </a:rPr>
              <a:t>Yaptığın bir davranışın sonucunu düşününce kararın değişir mi?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1B843"/>
                </a:solidFill>
                <a:latin typeface="Aptos"/>
              </a:rPr>
              <a:t>⭐ Aklımda kalsın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4892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363636"/>
                </a:solidFill>
                <a:latin typeface="Aptos"/>
              </a:rPr>
              <a:t>🌟 Hesap bilinci, daha dikkatli ve sorumlu yaşamaya yardım eder.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🌟 İmanın 6. Farzı: Kadere İman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🟦 İmanın 6 Farzı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874519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💡 Bu ne demek?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Allah'ın her şeyi bildiğine ve takdir ettiğine inanmak; bununla birlikte kendi seçimlerimizden sorumlu olduğumuzu bilmek.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📖 Mini hikâye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Deniz sınava hazırlanmak için çalıştı. Sonucu ise Allah'a bıraktı. Beklediği gibi olmayınca yeniden çalıştı.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429000" cy="1874519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9915B"/>
                </a:solidFill>
                <a:latin typeface="Aptos"/>
              </a:rPr>
              <a:t>🏠 Hayatımızda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Dersimize çalışırız, tedbirimizi alırız; sonra sonucu Allah'a bırakırız.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5486400" cy="1920240"/>
          </a:xfrm>
          <a:prstGeom prst="roundRect">
            <a:avLst/>
          </a:prstGeom>
          <a:solidFill>
            <a:srgbClr val="FCE5E2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D7466"/>
                </a:solidFill>
                <a:latin typeface="Aptos"/>
              </a:rPr>
              <a:t>❓ Sana bir soru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0248"/>
            <a:ext cx="5029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63636"/>
                </a:solidFill>
                <a:latin typeface="Aptos"/>
              </a:rPr>
              <a:t>“Çalışsam da olur, çalışmasam da” demek doğru bir yaklaşım mıdır?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1B843"/>
                </a:solidFill>
                <a:latin typeface="Aptos"/>
              </a:rPr>
              <a:t>⭐ Aklımda kalsın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4892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363636"/>
                </a:solidFill>
                <a:latin typeface="Aptos"/>
              </a:rPr>
              <a:t>🌟 Elimizden geleni yapar, sonra Allah'a güvenip sonucu O'na bırakırız.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🕌 İslam'ın 5 Farzı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6857E"/>
                </a:solidFill>
                <a:latin typeface="Aptos"/>
              </a:rPr>
              <a:t>Bunlar Müslümanın temel ibadetlerini anlatır.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3383280" cy="2423160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1️⃣ Şehadet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15768"/>
            <a:ext cx="292608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363636"/>
                </a:solidFill>
                <a:latin typeface="Aptos"/>
              </a:rPr>
              <a:t>Kalbimizle inanır, dilimizle şahitlik ederiz.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57400"/>
            <a:ext cx="3383280" cy="2423160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240280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2️⃣ Namaz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715768"/>
            <a:ext cx="292608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363636"/>
                </a:solidFill>
                <a:latin typeface="Aptos"/>
              </a:rPr>
              <a:t>Günün belli vakitlerinde Allah'ın huzuruna yöneliriz.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57400"/>
            <a:ext cx="3383280" cy="2423160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240280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3️⃣ Oruç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715768"/>
            <a:ext cx="292608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363636"/>
                </a:solidFill>
                <a:latin typeface="Aptos"/>
              </a:rPr>
              <a:t>Sabır, nefis terbiyesi ve güzel ahlakı öğreniriz.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294359"/>
                </a:solidFill>
                <a:latin typeface="Aptos"/>
              </a:rPr>
              <a:t>Ayrıca zekât ve hac da İslam'ın beş şartı içindedir.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🌟 İslam'ın 1. Farzı: Kelime-i Şehadet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🟩 İslam'ın 5 Farzı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874519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💡 Bu ne demek?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Allah'tan başka ilah olmadığına ve Hz. Muhammed'in Allah'ın elçisi olduğuna şahitlik etmektir.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📖 Mini hikâye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Ömer, “Ben Müslümanım” demenin sadece bir söz değil, davranışlara da yansıyan bir inanç olduğunu öğreniyor.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429000" cy="1874519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9915B"/>
                </a:solidFill>
                <a:latin typeface="Aptos"/>
              </a:rPr>
              <a:t>🏠 Hayatımızda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Doğru sözlü olmak, emanete sahip çıkmak ve güzel ahlakı önemsemek.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5486400" cy="1920240"/>
          </a:xfrm>
          <a:prstGeom prst="roundRect">
            <a:avLst/>
          </a:prstGeom>
          <a:solidFill>
            <a:srgbClr val="FCE5E2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D7466"/>
                </a:solidFill>
                <a:latin typeface="Aptos"/>
              </a:rPr>
              <a:t>❓ Sana bir soru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0248"/>
            <a:ext cx="5029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63636"/>
                </a:solidFill>
                <a:latin typeface="Aptos"/>
              </a:rPr>
              <a:t>İnandığımız şeyi davranışlarımızda nasıl gösterebiliriz?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1B843"/>
                </a:solidFill>
                <a:latin typeface="Aptos"/>
              </a:rPr>
              <a:t>⭐ Aklımda kalsın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4892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363636"/>
                </a:solidFill>
                <a:latin typeface="Aptos"/>
              </a:rPr>
              <a:t>🌟 İnanç, güzel davranışlarla hayatımızda görünür.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🌟 İslam'ın 2. Farzı: Namaz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🟩 İslam'ın 5 Farzı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874519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💡 Bu ne demek?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Beş vakit namazı yerine getirmektir.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📖 Mini hikâye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Ayşe oyununu bırakıp namaz vakti geldiğinde hazırlanıyor. Sonra oyununa yeniden devam ediyor.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429000" cy="1874519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9915B"/>
                </a:solidFill>
                <a:latin typeface="Aptos"/>
              </a:rPr>
              <a:t>🏠 Hayatımızda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Günün içinde ibadete düzenli bir yer açmak.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5486400" cy="1920240"/>
          </a:xfrm>
          <a:prstGeom prst="roundRect">
            <a:avLst/>
          </a:prstGeom>
          <a:solidFill>
            <a:srgbClr val="FCE5E2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D7466"/>
                </a:solidFill>
                <a:latin typeface="Aptos"/>
              </a:rPr>
              <a:t>❓ Sana bir soru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0248"/>
            <a:ext cx="5029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63636"/>
                </a:solidFill>
                <a:latin typeface="Aptos"/>
              </a:rPr>
              <a:t>Oyunu bırakıp namaza yönelmek sence zor mu, güzel bir alışkanlık mı?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1B843"/>
                </a:solidFill>
                <a:latin typeface="Aptos"/>
              </a:rPr>
              <a:t>⭐ Aklımda kalsın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4892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363636"/>
                </a:solidFill>
                <a:latin typeface="Aptos"/>
              </a:rPr>
              <a:t>🌟 Namaz, günün içinde Allah'ı hatırladığımız özel vakitlerdir.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🌟 İslam'ın 3. Farzı: Oruç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🟩 İslam'ın 5 Farzı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874519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💡 Bu ne demek?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Ramazan ayında oruç tutmaktır.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📖 Mini hikâye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Kerem, çok acıktığında arkadaşına kızmak yerine sabretmeye çalışıyor. Oruç ona sadece açlığı değil, dilini ve öfkesini de kontrol etmeyi öğretiyor.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429000" cy="1874519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9915B"/>
                </a:solidFill>
                <a:latin typeface="Aptos"/>
              </a:rPr>
              <a:t>🏠 Hayatımızda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Kötü sözden, kavga etmekten ve kırıcı davranışlardan uzak durmaya çalışmak.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5486400" cy="1920240"/>
          </a:xfrm>
          <a:prstGeom prst="roundRect">
            <a:avLst/>
          </a:prstGeom>
          <a:solidFill>
            <a:srgbClr val="FCE5E2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D7466"/>
                </a:solidFill>
                <a:latin typeface="Aptos"/>
              </a:rPr>
              <a:t>❓ Sana bir soru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0248"/>
            <a:ext cx="5029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63636"/>
                </a:solidFill>
                <a:latin typeface="Aptos"/>
              </a:rPr>
              <a:t>Oruç tutarken sadece midemizi mi, yoksa davranışlarımızı da mı eğitiyoruz?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1B843"/>
                </a:solidFill>
                <a:latin typeface="Aptos"/>
              </a:rPr>
              <a:t>⭐ Aklımda kalsın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4892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363636"/>
                </a:solidFill>
                <a:latin typeface="Aptos"/>
              </a:rPr>
              <a:t>🌟 Oruç bize sabrı ve kendimizi kontrol etmeyi öğretir.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🌟 İslam'ın 4. Farzı: Zekât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🟩 İslam'ın 5 Farzı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874519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💡 Bu ne demek?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Dinen zenginlik ölçüsüne ulaşan Müslümanın malının belirli bir kısmını ihtiyaç sahiplerine vermesidir.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📖 Mini hikâye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Sena, paylaşmanın sadece oyuncak paylaşmak olmadığını öğreniyor. İhtiyacı olan insanları gözetmek de çok değerli.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429000" cy="1874519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9915B"/>
                </a:solidFill>
                <a:latin typeface="Aptos"/>
              </a:rPr>
              <a:t>🏠 Hayatımızda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Paylaşmak, yardım etmek ve sahip olduklarımızın değerini bilmek.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5486400" cy="1920240"/>
          </a:xfrm>
          <a:prstGeom prst="roundRect">
            <a:avLst/>
          </a:prstGeom>
          <a:solidFill>
            <a:srgbClr val="FCE5E2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D7466"/>
                </a:solidFill>
                <a:latin typeface="Aptos"/>
              </a:rPr>
              <a:t>❓ Sana bir soru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0248"/>
            <a:ext cx="5029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63636"/>
                </a:solidFill>
                <a:latin typeface="Aptos"/>
              </a:rPr>
              <a:t>Bir arkadaşının yardıma ihtiyacı olduğunu görsen ne yaparsın?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1B843"/>
                </a:solidFill>
                <a:latin typeface="Aptos"/>
              </a:rPr>
              <a:t>⭐ Aklımda kalsın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4892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363636"/>
                </a:solidFill>
                <a:latin typeface="Aptos"/>
              </a:rPr>
              <a:t>🌟 Paylaşmak kalbi güzelleştirir.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🌟 İslam'ın 5. Farzı: Hac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🟩 İslam'ın 5 Farzı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874519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💡 Bu ne demek?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Gücü ve imkânı yeten Müslümanın hayatında bir kez hac ibadetini yapmasıdır.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📖 Mini hikâye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Çocuklar dünyanın farklı yerlerinden insanların aynı amaçla bir araya geldiğini düşünüyor. Herkesin Allah'ın huzurunda eşit olduğunu öğreniyor.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429000" cy="1874519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9915B"/>
                </a:solidFill>
                <a:latin typeface="Aptos"/>
              </a:rPr>
              <a:t>🏠 Hayatımızda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İnsanları ülkesi, dili veya maddi durumuna göre küçümsememek.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5486400" cy="1920240"/>
          </a:xfrm>
          <a:prstGeom prst="roundRect">
            <a:avLst/>
          </a:prstGeom>
          <a:solidFill>
            <a:srgbClr val="FCE5E2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D7466"/>
                </a:solidFill>
                <a:latin typeface="Aptos"/>
              </a:rPr>
              <a:t>❓ Sana bir soru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0248"/>
            <a:ext cx="5029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63636"/>
                </a:solidFill>
                <a:latin typeface="Aptos"/>
              </a:rPr>
              <a:t>Hepimizin Allah'ın kulları olması bize ne öğretir?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1B843"/>
                </a:solidFill>
                <a:latin typeface="Aptos"/>
              </a:rPr>
              <a:t>⭐ Aklımda kalsın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4892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363636"/>
                </a:solidFill>
                <a:latin typeface="Aptos"/>
              </a:rPr>
              <a:t>🌟 Hac, kardeşlik ve eşitliği hatırlatır.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💧 Abdestin 4 Farzı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6857E"/>
                </a:solidFill>
                <a:latin typeface="Aptos"/>
              </a:rPr>
              <a:t>Namaza hazırlanırken yerine getirdiğimiz temel temizlik adımlarını öğreniyoruz.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514600" cy="2331720"/>
          </a:xfrm>
          <a:prstGeom prst="roundRect">
            <a:avLst/>
          </a:prstGeom>
          <a:solidFill>
            <a:srgbClr val="E1EF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87168"/>
            <a:ext cx="2331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294359"/>
                </a:solidFill>
                <a:latin typeface="Aptos"/>
              </a:rPr>
              <a:t>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2240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94359"/>
                </a:solidFill>
                <a:latin typeface="Aptos"/>
              </a:rPr>
              <a:t>1. Yüzü yıkamak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286000"/>
            <a:ext cx="2514600" cy="2331720"/>
          </a:xfrm>
          <a:prstGeom prst="roundRect">
            <a:avLst/>
          </a:prstGeom>
          <a:solidFill>
            <a:srgbClr val="FFF4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487168"/>
            <a:ext cx="2331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294359"/>
                </a:solidFill>
                <a:latin typeface="Aptos"/>
              </a:rPr>
              <a:t>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154680"/>
            <a:ext cx="2240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94359"/>
                </a:solidFill>
                <a:latin typeface="Aptos"/>
              </a:rPr>
              <a:t>2. Kolları yıkamak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86000"/>
            <a:ext cx="2514600" cy="2331720"/>
          </a:xfrm>
          <a:prstGeom prst="roundRect">
            <a:avLst/>
          </a:prstGeom>
          <a:solidFill>
            <a:srgbClr val="E4F3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487168"/>
            <a:ext cx="2331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294359"/>
                </a:solidFill>
                <a:latin typeface="Aptos"/>
              </a:rPr>
              <a:t>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154680"/>
            <a:ext cx="2240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94359"/>
                </a:solidFill>
                <a:latin typeface="Aptos"/>
              </a:rPr>
              <a:t>3. Başı mesh etmek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286000"/>
            <a:ext cx="2514600" cy="2331720"/>
          </a:xfrm>
          <a:prstGeom prst="roundRect">
            <a:avLst/>
          </a:prstGeom>
          <a:solidFill>
            <a:srgbClr val="FCE5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487168"/>
            <a:ext cx="2331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294359"/>
                </a:solidFill>
                <a:latin typeface="Aptos"/>
              </a:rPr>
              <a:t>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3154680"/>
            <a:ext cx="2240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94359"/>
                </a:solidFill>
                <a:latin typeface="Aptos"/>
              </a:rPr>
              <a:t>4. Ayakları yıkamak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1B843"/>
                </a:solidFill>
                <a:latin typeface="Aptos"/>
              </a:rPr>
              <a:t>💧 Temizlik + hazırlık + ibadet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🌟 Abdestin 1. Farzı: Yüzü Yıkamak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💧 Abdestin 4 Farzı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874519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💡 Bu ne demek?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Yüzü yıkamaktır.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📖 Mini hikâye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Eylül yüzünü yıkarken “Ben şimdi namaza hazırlanıyorum” diye düşünüyor.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429000" cy="1874519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9915B"/>
                </a:solidFill>
                <a:latin typeface="Aptos"/>
              </a:rPr>
              <a:t>🏠 Hayatımızda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Abdest alırken acele etmek yerine yaptığımız hareketin farkında olmak.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5486400" cy="1920240"/>
          </a:xfrm>
          <a:prstGeom prst="roundRect">
            <a:avLst/>
          </a:prstGeom>
          <a:solidFill>
            <a:srgbClr val="FCE5E2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D7466"/>
                </a:solidFill>
                <a:latin typeface="Aptos"/>
              </a:rPr>
              <a:t>❓ Sana bir soru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0248"/>
            <a:ext cx="5029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63636"/>
                </a:solidFill>
                <a:latin typeface="Aptos"/>
              </a:rPr>
              <a:t>Abdest alırken sadece suyu mu düşünüyorum, yoksa ibadete hazırlandığımı da hatırlıyor muyum?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1B843"/>
                </a:solidFill>
                <a:latin typeface="Aptos"/>
              </a:rPr>
              <a:t>⭐ Aklımda kalsın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4892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363636"/>
                </a:solidFill>
                <a:latin typeface="Aptos"/>
              </a:rPr>
              <a:t>🌟 Abdest, namaza hazırlanmanın ilk adımlarından biridir.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🌟 Abdestin 2. Farzı: Kolları Yıkamak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💧 Abdestin 4 Farzı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874519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💡 Bu ne demek?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Ellerle birlikte dirseklere kadar kolları yıkamaktır.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📖 Mini hikâye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Berk, ellerinin gün içinde çok şeye dokunduğunu fark ediyor. Abdestte temizliğe daha çok dikkat ediyor.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429000" cy="1874519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9915B"/>
                </a:solidFill>
                <a:latin typeface="Aptos"/>
              </a:rPr>
              <a:t>🏠 Hayatımızda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Temizliğe dikkat etmek ve suyu israf etmemek.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5486400" cy="1920240"/>
          </a:xfrm>
          <a:prstGeom prst="roundRect">
            <a:avLst/>
          </a:prstGeom>
          <a:solidFill>
            <a:srgbClr val="FCE5E2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D7466"/>
                </a:solidFill>
                <a:latin typeface="Aptos"/>
              </a:rPr>
              <a:t>❓ Sana bir soru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0248"/>
            <a:ext cx="5029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63636"/>
                </a:solidFill>
                <a:latin typeface="Aptos"/>
              </a:rPr>
              <a:t>Suyu gereksiz yere açık bırakmadan abdest alabilir miyiz?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1B843"/>
                </a:solidFill>
                <a:latin typeface="Aptos"/>
              </a:rPr>
              <a:t>⭐ Aklımda kalsın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4892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363636"/>
                </a:solidFill>
                <a:latin typeface="Aptos"/>
              </a:rPr>
              <a:t>🌟 Temizlik güzeldir; suyu da israf etmeyiz.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🌟 Abdestin 3. Farzı: Başı Mesh Etmek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💧 Abdestin 4 Farzı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874519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💡 Bu ne demek?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Başın belirli kısmını mesh etmektir.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📖 Mini hikâye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Ela, abdestin hareketlerini öğretildiği sırayla yapmaya çalışıyor.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429000" cy="1874519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9915B"/>
                </a:solidFill>
                <a:latin typeface="Aptos"/>
              </a:rPr>
              <a:t>🏠 Hayatımızda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İbadetleri öğrenirken doğru sırayı ve şekli öğrenmek.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5486400" cy="1920240"/>
          </a:xfrm>
          <a:prstGeom prst="roundRect">
            <a:avLst/>
          </a:prstGeom>
          <a:solidFill>
            <a:srgbClr val="FCE5E2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D7466"/>
                </a:solidFill>
                <a:latin typeface="Aptos"/>
              </a:rPr>
              <a:t>❓ Sana bir soru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0248"/>
            <a:ext cx="5029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63636"/>
                </a:solidFill>
                <a:latin typeface="Aptos"/>
              </a:rPr>
              <a:t>Bir işi öğrenirken neden doğru biçimini öğrenmeye çalışırız?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1B843"/>
                </a:solidFill>
                <a:latin typeface="Aptos"/>
              </a:rPr>
              <a:t>⭐ Aklımda kalsın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4892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363636"/>
                </a:solidFill>
                <a:latin typeface="Aptos"/>
              </a:rPr>
              <a:t>🌟 İbadetleri doğru öğrenmek ve uygulamak önemlidir.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🌟 Abdestin 4. Farzı: Ayakları Yıkamak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💧 Abdestin 4 Farzı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874519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💡 Bu ne demek?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Ayakları topuklarla birlikte yıkamaktır.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📖 Mini hikâye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Mete, ayaklarını yıkarken suyu dengeli kullanıyor ve her yeri temizlemeye dikkat ediyor.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429000" cy="1874519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9915B"/>
                </a:solidFill>
                <a:latin typeface="Aptos"/>
              </a:rPr>
              <a:t>🏠 Hayatımızda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Temizliği tamamlamak ve suyu israf etmemek.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5486400" cy="1920240"/>
          </a:xfrm>
          <a:prstGeom prst="roundRect">
            <a:avLst/>
          </a:prstGeom>
          <a:solidFill>
            <a:srgbClr val="FCE5E2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D7466"/>
                </a:solidFill>
                <a:latin typeface="Aptos"/>
              </a:rPr>
              <a:t>❓ Sana bir soru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0248"/>
            <a:ext cx="5029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63636"/>
                </a:solidFill>
                <a:latin typeface="Aptos"/>
              </a:rPr>
              <a:t>Abdestte suyu dikkatli kullanmanın güzel bir yolu ne olabilir?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1B843"/>
                </a:solidFill>
                <a:latin typeface="Aptos"/>
              </a:rPr>
              <a:t>⭐ Aklımda kalsın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4892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363636"/>
                </a:solidFill>
                <a:latin typeface="Aptos"/>
              </a:rPr>
              <a:t>🌟 Hem temiz oluruz hem nimeti israf etmeyiz.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🚿 Guslün 3 Farzı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36857E"/>
                </a:solidFill>
                <a:latin typeface="Aptos"/>
              </a:rPr>
              <a:t>Gusül, gerektiğinde ibadet için bedenin tamamını yıkayarak temizlenmektir.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3200400" cy="2468880"/>
          </a:xfrm>
          <a:prstGeom prst="roundRect">
            <a:avLst/>
          </a:prstGeom>
          <a:solidFill>
            <a:srgbClr val="E1EF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94359"/>
                </a:solidFill>
                <a:latin typeface="Aptos"/>
              </a:rPr>
              <a:t>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46120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94359"/>
                </a:solidFill>
                <a:latin typeface="Aptos"/>
              </a:rPr>
              <a:t>1. Ağza su vermek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2194560"/>
            <a:ext cx="3200400" cy="2468880"/>
          </a:xfrm>
          <a:prstGeom prst="roundRect">
            <a:avLst/>
          </a:prstGeom>
          <a:solidFill>
            <a:srgbClr val="FFF4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2468880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94359"/>
                </a:solidFill>
                <a:latin typeface="Aptos"/>
              </a:rPr>
              <a:t>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246120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94359"/>
                </a:solidFill>
                <a:latin typeface="Aptos"/>
              </a:rPr>
              <a:t>2. Burna su vermek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94560"/>
            <a:ext cx="3200400" cy="2468880"/>
          </a:xfrm>
          <a:prstGeom prst="roundRect">
            <a:avLst/>
          </a:prstGeom>
          <a:solidFill>
            <a:srgbClr val="E4F3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468880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94359"/>
                </a:solidFill>
                <a:latin typeface="Aptos"/>
              </a:rPr>
              <a:t>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246120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94359"/>
                </a:solidFill>
                <a:latin typeface="Aptos"/>
              </a:rPr>
              <a:t>3. Bütün bedeni yıkamak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1B843"/>
                </a:solidFill>
                <a:latin typeface="Aptos"/>
              </a:rPr>
              <a:t>🚿 Temizlenmek • hazırlanmak • ibadet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🌟 Guslün 1. Farzı: Ağza Su Vermek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🚿 Guslün 3 Farzı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874519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💡 Bu ne demek?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Ağzın içini su ile yıkamaktır.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📖 Mini hikâye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Duru duş alırken ağzını da temizlemeyi unutmuyor.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429000" cy="1874519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9915B"/>
                </a:solidFill>
                <a:latin typeface="Aptos"/>
              </a:rPr>
              <a:t>🏠 Hayatımızda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Temizliğin küçük ayrıntılarına dikkat etmek.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5486400" cy="1920240"/>
          </a:xfrm>
          <a:prstGeom prst="roundRect">
            <a:avLst/>
          </a:prstGeom>
          <a:solidFill>
            <a:srgbClr val="FCE5E2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D7466"/>
                </a:solidFill>
                <a:latin typeface="Aptos"/>
              </a:rPr>
              <a:t>❓ Sana bir soru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0248"/>
            <a:ext cx="5029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63636"/>
                </a:solidFill>
                <a:latin typeface="Aptos"/>
              </a:rPr>
              <a:t>Temizlikte ayrıntılara dikkat etmek neden önemlidir?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1B843"/>
                </a:solidFill>
                <a:latin typeface="Aptos"/>
              </a:rPr>
              <a:t>⭐ Aklımda kalsın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4892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363636"/>
                </a:solidFill>
                <a:latin typeface="Aptos"/>
              </a:rPr>
              <a:t>🌟 Temizlikte küçük ayrıntılar da önemlidir.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🌟 Guslün 2. Farzı: Burna Su Vermek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🚿 Guslün 3 Farzı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874519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💡 Bu ne demek?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Burun içine su ulaştırmaktır.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📖 Mini hikâye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Duru, guslün sadece duş almak olmadığını; belirli şartları olduğunu öğreniyor.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429000" cy="1874519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9915B"/>
                </a:solidFill>
                <a:latin typeface="Aptos"/>
              </a:rPr>
              <a:t>🏠 Hayatımızda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Bir ibadeti doğru yapmak için gerekli bilgileri öğrenmek.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5486400" cy="1920240"/>
          </a:xfrm>
          <a:prstGeom prst="roundRect">
            <a:avLst/>
          </a:prstGeom>
          <a:solidFill>
            <a:srgbClr val="FCE5E2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D7466"/>
                </a:solidFill>
                <a:latin typeface="Aptos"/>
              </a:rPr>
              <a:t>❓ Sana bir soru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0248"/>
            <a:ext cx="5029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63636"/>
                </a:solidFill>
                <a:latin typeface="Aptos"/>
              </a:rPr>
              <a:t>Bir şeyi bilmeden yapmak yerine neden öğrenmeye çalışmalıyız?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1B843"/>
                </a:solidFill>
                <a:latin typeface="Aptos"/>
              </a:rPr>
              <a:t>⭐ Aklımda kalsın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4892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363636"/>
                </a:solidFill>
                <a:latin typeface="Aptos"/>
              </a:rPr>
              <a:t>🌟 Öğrenmek, doğru yapmamıza yardım eder.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🌟 Guslün 3. Farzı: Bütün Bedeni Yıkamak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🚿 Guslün 3 Farzı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874519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💡 Bu ne demek?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Bedenin her tarafına suyun ulaşmasını sağlamaktır.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📖 Mini hikâye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Emir duşta acele etmiyor; bedeninin her yerine su ulaşmasına dikkat ediyor.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429000" cy="1874519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9915B"/>
                </a:solidFill>
                <a:latin typeface="Aptos"/>
              </a:rPr>
              <a:t>🏠 Hayatımızda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İşi eksik bırakmamak ve gerektiğinde daha dikkatli olmak.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5486400" cy="1920240"/>
          </a:xfrm>
          <a:prstGeom prst="roundRect">
            <a:avLst/>
          </a:prstGeom>
          <a:solidFill>
            <a:srgbClr val="FCE5E2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D7466"/>
                </a:solidFill>
                <a:latin typeface="Aptos"/>
              </a:rPr>
              <a:t>❓ Sana bir soru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0248"/>
            <a:ext cx="5029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63636"/>
                </a:solidFill>
                <a:latin typeface="Aptos"/>
              </a:rPr>
              <a:t>Bir işi tamamladığımızdan nasıl emin oluruz?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1B843"/>
                </a:solidFill>
                <a:latin typeface="Aptos"/>
              </a:rPr>
              <a:t>⭐ Aklımda kalsın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4892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363636"/>
                </a:solidFill>
                <a:latin typeface="Aptos"/>
              </a:rPr>
              <a:t>🌟 Önemli işlerde acele yerine dikkat gerekir.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🌱 Teyemmümün 2 Farzı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6857E"/>
                </a:solidFill>
                <a:latin typeface="Aptos"/>
              </a:rPr>
              <a:t>Su bulunmadığında veya kullanmak dinen mümkün olmadığında, şartları oluşursa teyemmüm bir kolaylıktır.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5120640" cy="2194560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51460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1️⃣ Niyet etmek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90087"/>
            <a:ext cx="46634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363636"/>
                </a:solidFill>
                <a:latin typeface="Aptos"/>
              </a:rPr>
              <a:t>Yapacağımız teyemmümü bilinçli olarak niyet etmek.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331720"/>
            <a:ext cx="5120640" cy="2194560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51460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2️⃣ Mesh etmek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990087"/>
            <a:ext cx="46634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363636"/>
                </a:solidFill>
                <a:latin typeface="Aptos"/>
              </a:rPr>
              <a:t>Temiz toprak cinsinden bir şeyle yüzü ve kolları mesh etmek.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074920"/>
            <a:ext cx="10424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775FA0"/>
                </a:solidFill>
                <a:latin typeface="Aptos"/>
              </a:rPr>
              <a:t>🎯 Unutma: Teyemmüm, her durumda değil; dinen geçerli şartlar oluştuğunda uygulanır.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🌟 Teyemmümün 1. Farzı: Niyet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🌱 Teyemmümün 2 Farzı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874519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💡 Bu ne demek?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Teyemmümle temizlenmeye niyet etmektir.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📖 Mini hikâye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Bir işe başlamadan önce “Ne yapıyorum?” diye düşünmek, bilinçli davranmayı öğretir.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429000" cy="1874519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9915B"/>
                </a:solidFill>
                <a:latin typeface="Aptos"/>
              </a:rPr>
              <a:t>🏠 Hayatımızda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İbadetlerde niyetin ve amacın farkında olmak.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5486400" cy="1920240"/>
          </a:xfrm>
          <a:prstGeom prst="roundRect">
            <a:avLst/>
          </a:prstGeom>
          <a:solidFill>
            <a:srgbClr val="FCE5E2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D7466"/>
                </a:solidFill>
                <a:latin typeface="Aptos"/>
              </a:rPr>
              <a:t>❓ Sana bir soru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0248"/>
            <a:ext cx="5029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63636"/>
                </a:solidFill>
                <a:latin typeface="Aptos"/>
              </a:rPr>
              <a:t>Bir işi neden yaptığımızı bilmek neden önemlidir?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1B843"/>
                </a:solidFill>
                <a:latin typeface="Aptos"/>
              </a:rPr>
              <a:t>⭐ Aklımda kalsın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4892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363636"/>
                </a:solidFill>
                <a:latin typeface="Aptos"/>
              </a:rPr>
              <a:t>🌟 Bilinçli niyet, ibadetimizi anlamlı hâle getirir.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🌟 Teyemmümün 2. Farzı: Mesh Etmek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🌱 Teyemmümün 2 Farzı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874519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💡 Bu ne demek?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Temiz toprak cinsinden bir şeyle yüzü ve kolları mesh etmektir.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📖 Mini hikâye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Su kullanmanın mümkün olmadığı bir durumda dinin kolaylık sağlayan hükmünü öğreniyoruz.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429000" cy="1874519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9915B"/>
                </a:solidFill>
                <a:latin typeface="Aptos"/>
              </a:rPr>
              <a:t>🏠 Hayatımızda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971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63636"/>
                </a:solidFill>
                <a:latin typeface="Aptos"/>
              </a:rPr>
              <a:t>Zor durumda doğru bilgiyi öğrenmek ve ruhsatları doğru kullanmak.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5486400" cy="1920240"/>
          </a:xfrm>
          <a:prstGeom prst="roundRect">
            <a:avLst/>
          </a:prstGeom>
          <a:solidFill>
            <a:srgbClr val="FCE5E2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D7466"/>
                </a:solidFill>
                <a:latin typeface="Aptos"/>
              </a:rPr>
              <a:t>❓ Sana bir soru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0248"/>
            <a:ext cx="5029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363636"/>
                </a:solidFill>
                <a:latin typeface="Aptos"/>
              </a:rPr>
              <a:t>Zorlandığımızda hemen vazgeçmek yerine çözüm aramak neden önemlidir?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1B843"/>
                </a:solidFill>
                <a:latin typeface="Aptos"/>
              </a:rPr>
              <a:t>⭐ Aklımda kalsın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4892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363636"/>
                </a:solidFill>
                <a:latin typeface="Aptos"/>
              </a:rPr>
              <a:t>🌟 Dinimiz, şartlara göre kolaylıklar da öğretir.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🕌 Namazın 12 Farzı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3886200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846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🧼 Namazın dışındaki 6 farz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29967"/>
            <a:ext cx="4846320" cy="3063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363636"/>
                </a:solidFill>
                <a:latin typeface="Aptos"/>
              </a:rPr>
              <a:t>1. Hadesten taharet
2. Necasetten taharet
3. Setr-i avret
4. İstikbal-i kıble
5. Vakit
6. Niyet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3886200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54480"/>
            <a:ext cx="4846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🙏 Namazın içindeki 6 farz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029967"/>
            <a:ext cx="4846320" cy="3063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363636"/>
                </a:solidFill>
                <a:latin typeface="Aptos"/>
              </a:rPr>
              <a:t>1. İftitah tekbiri
2. Kıyam
3. Kıraat
4. Rükû
5. Secde
6. Ka'de-i ahîre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6857E"/>
                </a:solidFill>
                <a:latin typeface="Aptos"/>
              </a:rPr>
              <a:t>🎯 Şimdi bunları bir “namaza hazırlık macerası” gibi öğreneceğiz!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🕌 Namazın 12 Farzı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4389120"/>
          </a:xfrm>
          <a:prstGeom prst="roundRect">
            <a:avLst/>
          </a:prstGeom>
          <a:solidFill>
            <a:srgbClr val="E1EF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94359"/>
                </a:solidFill>
                <a:latin typeface="Aptos"/>
              </a:rPr>
              <a:t>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94359"/>
                </a:solidFill>
                <a:latin typeface="Aptos"/>
              </a:rPr>
              <a:t>1. Hadesten Taharet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1B843"/>
                </a:solidFill>
                <a:latin typeface="Aptos"/>
              </a:rPr>
              <a:t>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852928"/>
            <a:ext cx="3886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Abdest veya gerektiğinde gusül gibi gerekli temizliği yapmak.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🏠 Hayatımızda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34840"/>
            <a:ext cx="4572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Namaza temiz bir şekilde hazırlanmak.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12080" cy="4389120"/>
          </a:xfrm>
          <a:prstGeom prst="roundRect">
            <a:avLst/>
          </a:prstGeom>
          <a:solidFill>
            <a:srgbClr val="FFF4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4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94359"/>
                </a:solidFill>
                <a:latin typeface="Aptos"/>
              </a:rPr>
              <a:t>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28600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94359"/>
                </a:solidFill>
                <a:latin typeface="Aptos"/>
              </a:rPr>
              <a:t>2. Necasetten Taharet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88036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1B843"/>
                </a:solidFill>
                <a:latin typeface="Aptos"/>
              </a:rPr>
              <a:t>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852928"/>
            <a:ext cx="3886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Beden, elbise ve namaz yerini dinen temiz tutmak.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406908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🏠 Hayatımızda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4434840"/>
            <a:ext cx="4572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Üzerimizde ve namaz yerinde temizliğe dikkat etmek.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🕌 Namazın 12 Farzı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4389120"/>
          </a:xfrm>
          <a:prstGeom prst="roundRect">
            <a:avLst/>
          </a:prstGeom>
          <a:solidFill>
            <a:srgbClr val="E1EF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94359"/>
                </a:solidFill>
                <a:latin typeface="Aptos"/>
              </a:rPr>
              <a:t>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94359"/>
                </a:solidFill>
                <a:latin typeface="Aptos"/>
              </a:rPr>
              <a:t>3. Setr-i Avret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1B843"/>
                </a:solidFill>
                <a:latin typeface="Aptos"/>
              </a:rPr>
              <a:t>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852928"/>
            <a:ext cx="3886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Örtülmesi gereken yerleri uygun şekilde örtmek.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🏠 Hayatımızda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34840"/>
            <a:ext cx="4572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Namaza uygun ve temiz kıyafet hazırlamak.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12080" cy="4389120"/>
          </a:xfrm>
          <a:prstGeom prst="roundRect">
            <a:avLst/>
          </a:prstGeom>
          <a:solidFill>
            <a:srgbClr val="FFF4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4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94359"/>
                </a:solidFill>
                <a:latin typeface="Aptos"/>
              </a:rPr>
              <a:t>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28600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94359"/>
                </a:solidFill>
                <a:latin typeface="Aptos"/>
              </a:rPr>
              <a:t>4. İstikbal-i Kıble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88036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1B843"/>
                </a:solidFill>
                <a:latin typeface="Aptos"/>
              </a:rPr>
              <a:t>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852928"/>
            <a:ext cx="3886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Namazda kıbleye yönelmek.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406908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🏠 Hayatımızda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4434840"/>
            <a:ext cx="4572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Kıble yönünü öğrenip doğru yöne dönmek.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🕌 Namazın 12 Farzı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4389120"/>
          </a:xfrm>
          <a:prstGeom prst="roundRect">
            <a:avLst/>
          </a:prstGeom>
          <a:solidFill>
            <a:srgbClr val="E1EF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94359"/>
                </a:solidFill>
                <a:latin typeface="Aptos"/>
              </a:rPr>
              <a:t>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94359"/>
                </a:solidFill>
                <a:latin typeface="Aptos"/>
              </a:rPr>
              <a:t>5. Vakit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1B843"/>
                </a:solidFill>
                <a:latin typeface="Aptos"/>
              </a:rPr>
              <a:t>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852928"/>
            <a:ext cx="3886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Namazı kendi vakti içinde kılmak.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🏠 Hayatımızda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34840"/>
            <a:ext cx="4572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Saatini ve günlük planını namaz vakitlerine göre düzenlemek.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12080" cy="4389120"/>
          </a:xfrm>
          <a:prstGeom prst="roundRect">
            <a:avLst/>
          </a:prstGeom>
          <a:solidFill>
            <a:srgbClr val="FFF4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4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94359"/>
                </a:solidFill>
                <a:latin typeface="Aptos"/>
              </a:rPr>
              <a:t>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28600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94359"/>
                </a:solidFill>
                <a:latin typeface="Aptos"/>
              </a:rPr>
              <a:t>6. Niyet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88036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1B843"/>
                </a:solidFill>
                <a:latin typeface="Aptos"/>
              </a:rPr>
              <a:t>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852928"/>
            <a:ext cx="3886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Kılınacak namaza niyet etmek.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406908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🏠 Hayatımızda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4434840"/>
            <a:ext cx="4572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Hangi namazı kıldığını bilerek başlamak.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🕌 Namazın 12 Farzı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4389120"/>
          </a:xfrm>
          <a:prstGeom prst="roundRect">
            <a:avLst/>
          </a:prstGeom>
          <a:solidFill>
            <a:srgbClr val="E1EF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94359"/>
                </a:solidFill>
                <a:latin typeface="Aptos"/>
              </a:rPr>
              <a:t>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94359"/>
                </a:solidFill>
                <a:latin typeface="Aptos"/>
              </a:rPr>
              <a:t>7. İftitah Tekbiri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1B843"/>
                </a:solidFill>
                <a:latin typeface="Aptos"/>
              </a:rPr>
              <a:t>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852928"/>
            <a:ext cx="3886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“Allahu Ekber” diyerek namaza başlamak.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🏠 Hayatımızda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34840"/>
            <a:ext cx="4572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Dünyevi işlerden ayrılıp namaza yönelmek.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12080" cy="4389120"/>
          </a:xfrm>
          <a:prstGeom prst="roundRect">
            <a:avLst/>
          </a:prstGeom>
          <a:solidFill>
            <a:srgbClr val="FFF4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4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94359"/>
                </a:solidFill>
                <a:latin typeface="Aptos"/>
              </a:rPr>
              <a:t>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28600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94359"/>
                </a:solidFill>
                <a:latin typeface="Aptos"/>
              </a:rPr>
              <a:t>8. Kıyam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88036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1B843"/>
                </a:solidFill>
                <a:latin typeface="Aptos"/>
              </a:rPr>
              <a:t>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852928"/>
            <a:ext cx="3886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Gücü yeten kişinin ayakta durması.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406908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🏠 Hayatımızda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4434840"/>
            <a:ext cx="4572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Allah'ın huzurunda saygı ile durmak.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🕌 Namazın 12 Farzı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4389120"/>
          </a:xfrm>
          <a:prstGeom prst="roundRect">
            <a:avLst/>
          </a:prstGeom>
          <a:solidFill>
            <a:srgbClr val="E1EF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94359"/>
                </a:solidFill>
                <a:latin typeface="Aptos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94359"/>
                </a:solidFill>
                <a:latin typeface="Aptos"/>
              </a:rPr>
              <a:t>9. Kıraat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1B843"/>
                </a:solidFill>
                <a:latin typeface="Aptos"/>
              </a:rPr>
              <a:t>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852928"/>
            <a:ext cx="3886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Namazda Kur'an'dan okunması gereken kısmı okumak.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🏠 Hayatımızda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34840"/>
            <a:ext cx="4572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Okuduğumuz surelerin anlamını öğrenmeye çalışmak.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12080" cy="4389120"/>
          </a:xfrm>
          <a:prstGeom prst="roundRect">
            <a:avLst/>
          </a:prstGeom>
          <a:solidFill>
            <a:srgbClr val="FFF4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4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94359"/>
                </a:solidFill>
                <a:latin typeface="Aptos"/>
              </a:rPr>
              <a:t>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28600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94359"/>
                </a:solidFill>
                <a:latin typeface="Aptos"/>
              </a:rPr>
              <a:t>10. Rükû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88036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1B843"/>
                </a:solidFill>
                <a:latin typeface="Aptos"/>
              </a:rPr>
              <a:t>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852928"/>
            <a:ext cx="3886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Rükû yapmak.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406908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🏠 Hayatımızda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4434840"/>
            <a:ext cx="4572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Kibirlenmek yerine Allah'ın huzurunda eğilmek.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🕌 Namazın 12 Farzı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4389120"/>
          </a:xfrm>
          <a:prstGeom prst="roundRect">
            <a:avLst/>
          </a:prstGeom>
          <a:solidFill>
            <a:srgbClr val="E1EF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94359"/>
                </a:solidFill>
                <a:latin typeface="Aptos"/>
              </a:rPr>
              <a:t>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94359"/>
                </a:solidFill>
                <a:latin typeface="Aptos"/>
              </a:rPr>
              <a:t>11. Secde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1B843"/>
                </a:solidFill>
                <a:latin typeface="Aptos"/>
              </a:rPr>
              <a:t>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852928"/>
            <a:ext cx="3886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Secde yapmak.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🏠 Hayatımızda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34840"/>
            <a:ext cx="4572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Kulluğu ve teslimiyeti güçlü biçimde hissetmek.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12080" cy="4389120"/>
          </a:xfrm>
          <a:prstGeom prst="roundRect">
            <a:avLst/>
          </a:prstGeom>
          <a:solidFill>
            <a:srgbClr val="FFF4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4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94359"/>
                </a:solidFill>
                <a:latin typeface="Aptos"/>
              </a:rPr>
              <a:t>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28600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94359"/>
                </a:solidFill>
                <a:latin typeface="Aptos"/>
              </a:rPr>
              <a:t>12. Ka'de-i Ahîre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88036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1B843"/>
                </a:solidFill>
                <a:latin typeface="Aptos"/>
              </a:rPr>
              <a:t>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852928"/>
            <a:ext cx="3886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Namazın sonunda gerekli oturuşu yapmak.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406908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6857E"/>
                </a:solidFill>
                <a:latin typeface="Aptos"/>
              </a:rPr>
              <a:t>🏠 Hayatımızda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4434840"/>
            <a:ext cx="4572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63636"/>
                </a:solidFill>
                <a:latin typeface="Aptos"/>
              </a:rPr>
              <a:t>Namazı sonuna kadar dikkatle tamamlamak.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🧩 🎯 Mini Oyun: Hangi Farz?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36857E"/>
                </a:solidFill>
                <a:latin typeface="Aptos"/>
              </a:rPr>
              <a:t>Aşağıdaki durumların hangi konuyla ilgili olduğunu tahmin et!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120640" cy="1280160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41448"/>
            <a:ext cx="4663440" cy="4571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363636"/>
                </a:solidFill>
                <a:latin typeface="Aptos"/>
              </a:rPr>
              <a:t>1️⃣ “Namaz vakti geldi, oyunu bırakıp hazırlanıyorum.”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5120640" cy="1280160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6596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41448"/>
            <a:ext cx="4663440" cy="4571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363636"/>
                </a:solidFill>
                <a:latin typeface="Aptos"/>
              </a:rPr>
              <a:t>2️⃣ “Arkadaşımın arkasından konuşmamaya çalışıyorum.”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83280"/>
            <a:ext cx="5120640" cy="1280160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56616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041648"/>
            <a:ext cx="4663440" cy="4571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363636"/>
                </a:solidFill>
                <a:latin typeface="Aptos"/>
              </a:rPr>
              <a:t>3️⃣ “Abdest alırken yüzümü yıkıyorum.”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383280"/>
            <a:ext cx="5120640" cy="1280160"/>
          </a:xfrm>
          <a:prstGeom prst="roundRect">
            <a:avLst/>
          </a:prstGeom>
          <a:solidFill>
            <a:srgbClr val="FCE5E2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56616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041648"/>
            <a:ext cx="4663440" cy="4571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363636"/>
                </a:solidFill>
                <a:latin typeface="Aptos"/>
              </a:rPr>
              <a:t>4️⃣ “İhtiyacı olan biriyle paylaşmak istiyorum.”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1B843"/>
                </a:solidFill>
                <a:latin typeface="Aptos"/>
              </a:rPr>
              <a:t>👩‍🏫 Cevapları birlikte konuşalım!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🔄 ⚡ Hızlı Tekrar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1417320"/>
          </a:xfrm>
          <a:prstGeom prst="roundRect">
            <a:avLst/>
          </a:prstGeom>
          <a:solidFill>
            <a:srgbClr val="E1EF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1B843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755648"/>
            <a:ext cx="2057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94359"/>
                </a:solidFill>
                <a:latin typeface="Aptos"/>
              </a:rPr>
              <a:t>İman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463040"/>
            <a:ext cx="3383280" cy="1417320"/>
          </a:xfrm>
          <a:prstGeom prst="roundRect">
            <a:avLst/>
          </a:prstGeom>
          <a:solidFill>
            <a:srgbClr val="FFF4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664208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1B843"/>
                </a:solidFill>
                <a:latin typeface="Aptos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755648"/>
            <a:ext cx="2057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94359"/>
                </a:solidFill>
                <a:latin typeface="Aptos"/>
              </a:rPr>
              <a:t>İslam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463040"/>
            <a:ext cx="3383280" cy="1417320"/>
          </a:xfrm>
          <a:prstGeom prst="roundRect">
            <a:avLst/>
          </a:prstGeom>
          <a:solidFill>
            <a:srgbClr val="E4F3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664208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1B843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755648"/>
            <a:ext cx="2057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94359"/>
                </a:solidFill>
                <a:latin typeface="Aptos"/>
              </a:rPr>
              <a:t>Abdest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37560"/>
            <a:ext cx="3383280" cy="1417320"/>
          </a:xfrm>
          <a:prstGeom prst="roundRect">
            <a:avLst/>
          </a:prstGeom>
          <a:solidFill>
            <a:srgbClr val="FCE5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38728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1B843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630168"/>
            <a:ext cx="2057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94359"/>
                </a:solidFill>
                <a:latin typeface="Aptos"/>
              </a:rPr>
              <a:t>Gusül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337560"/>
            <a:ext cx="3383280" cy="1417320"/>
          </a:xfrm>
          <a:prstGeom prst="roundRect">
            <a:avLst/>
          </a:prstGeom>
          <a:solidFill>
            <a:srgbClr val="EDE7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3538728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1B843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3630168"/>
            <a:ext cx="2057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94359"/>
                </a:solidFill>
                <a:latin typeface="Aptos"/>
              </a:rPr>
              <a:t>Teyemmüm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337560"/>
            <a:ext cx="3383280" cy="1417320"/>
          </a:xfrm>
          <a:prstGeom prst="roundRect">
            <a:avLst/>
          </a:prstGeom>
          <a:solidFill>
            <a:srgbClr val="EBEF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3538728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1B843"/>
                </a:solidFill>
                <a:latin typeface="Aptos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630168"/>
            <a:ext cx="2057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94359"/>
                </a:solidFill>
                <a:latin typeface="Aptos"/>
              </a:rPr>
              <a:t>Namaz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6857E"/>
                </a:solidFill>
                <a:latin typeface="Aptos"/>
              </a:rPr>
              <a:t>⭐ 32 farzı öğrenmek = Allah'ı tanımak + ibadetleri öğrenmek + güzel davranmaya çalışmak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43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1B843"/>
                </a:solidFill>
                <a:latin typeface="Aptos"/>
              </a:rPr>
              <a:t>🌟 Aklımda Kalsın 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32 Farz sadece ezberlenecek bir liste değildir.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İmanımızı güçlendirsin,
ibadetimizi güzelleştirsin,
ahlakımızı güzelleştirsin. ❤️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1B843"/>
                </a:solidFill>
                <a:latin typeface="Aptos"/>
              </a:rPr>
              <a:t>“Bugün öğrendiğim hangi güzel davranışı hayatımda uygulayacağım?”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94359"/>
                </a:solidFill>
                <a:latin typeface="Aptos"/>
              </a:rPr>
              <a:t>⭐ 👩‍🏫 Sunumu Anlatacak Kişi İçin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74720" cy="4251960"/>
          </a:xfrm>
          <a:prstGeom prst="roundRect">
            <a:avLst/>
          </a:prstGeom>
          <a:solidFill>
            <a:srgbClr val="E1EFF7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🗣️ Anlatım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84248"/>
            <a:ext cx="3017520" cy="342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363636"/>
                </a:solidFill>
                <a:latin typeface="Aptos"/>
              </a:rPr>
              <a:t>Tanımı kısa tutun.
Hikâyeyi canlı okuyun.
Çocuklara sık sık “Sen olsaydın?” diye sorun.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325880"/>
            <a:ext cx="3474720" cy="4251960"/>
          </a:xfrm>
          <a:prstGeom prst="roundRect">
            <a:avLst/>
          </a:prstGeom>
          <a:solidFill>
            <a:srgbClr val="FFF4CC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508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🎯 Katılım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1984248"/>
            <a:ext cx="3017520" cy="342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363636"/>
                </a:solidFill>
                <a:latin typeface="Aptos"/>
              </a:rPr>
              <a:t>El kaldırma, doğru-yanlış, eşleştirme ve kısa cevaplar kullanın.
Çocukların kendi örneklerini anlatmalarına izin verin.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325880"/>
            <a:ext cx="3474720" cy="4251960"/>
          </a:xfrm>
          <a:prstGeom prst="roundRect">
            <a:avLst/>
          </a:prstGeom>
          <a:solidFill>
            <a:srgbClr val="E4F3E5"/>
          </a:solidFill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08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94359"/>
                </a:solidFill>
                <a:latin typeface="Aptos"/>
              </a:rPr>
              <a:t>❤️ Ana mesaj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0183" y="1984248"/>
            <a:ext cx="3017520" cy="342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363636"/>
                </a:solidFill>
                <a:latin typeface="Aptos"/>
              </a:rPr>
              <a:t>Çocukları korkutmak yerine sevdirmeyi hedefleyin.
Bilgiyi güzel ahlakla ve günlük hayatla bağlayın.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737373"/>
                </a:solidFill>
                <a:latin typeface="Aptos"/>
              </a:rPr>
              <a:t>Not: Fıkhî ayrıntılar mezheplere ve ilmihal kaynaklarına göre farklı ifade edilebilir; sunumda çocuklara uygun, temel anlatım tercih edilmiştir.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828282"/>
                </a:solidFill>
                <a:latin typeface="Aptos"/>
              </a:rPr>
              <a:t>32 Farz • 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