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6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B71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26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C235232-8B01-E8F4-7E47-5842C8A651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B3AD2988-D2A7-1727-437F-9404366B5F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A084068-F86E-E8AC-8D43-BAD0FD26B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24.08.2026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5EDB904-1F6E-99FB-B983-C089EC52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71548C1-6456-5232-EDAA-E6F83741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22643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8C551F1-AD57-D8CA-833B-4310A9D3F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3133410E-FD52-6245-5864-D4837BC65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5282353-8DA7-99C9-3D9B-3D4A481D39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24.08.2026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3B05659-5E48-E16D-5FA4-ADA1D8EC9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AA03CE0-747C-DB90-B976-09CDDCD22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81948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73FB67A-8AF2-9A5A-C4D3-006321F6E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3894D0BC-A37B-462B-06B1-804CC0162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1050AC7-4B2B-8319-983F-29BCDDE07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24.08.2026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959C55B-0A23-C136-6F47-5480FC656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8D91039-0BCA-A35D-4FE8-892DE57BC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16241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3DD1D06-3149-C296-EC39-0E6CEDD44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6BCED2E-7171-4D3A-5C5D-0B535DF7D0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D61FE503-2E0C-821C-AFB0-9D0C079269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3A0174C5-E549-CAC8-487B-744DCC32D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24.08.2026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03FC2951-D5AE-5736-118B-9BAF4B8B1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014B2183-7724-4836-F03C-DE31D6720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44179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FB0E271-E28E-E154-2FA8-644BC2737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2CD0CDE6-948C-DDA6-E2B8-093C6A1040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F22C274D-9ACA-7149-8EFB-692D12B9B5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9242FE66-898A-5DC8-DACC-385ED2CF94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427CCDDE-B9E6-F370-02FA-0B04A8A276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BDA286FD-5AF0-6599-F912-C8DB086DB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24.08.2026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6E541F74-5D30-EA19-A7F5-4A2C893D8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0C72A07-A7CC-28B2-6248-DA35C3949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2087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431F4B9-791F-40F1-90A2-14D179188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2B8AFA1A-F9E0-0AEE-C017-CB6964C3E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24.08.2026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6602C828-3CBB-DBB6-20B6-B9F2CB1A0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13B2220F-053A-1725-7708-337FDB74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51738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55A3DB96-D4FC-F3AF-88B4-8C7151DE6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24.08.2026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18E230E7-71F4-6755-DC6A-EDA3AF7A1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5FF9ED7-1981-2E93-1B97-CF9B0785D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87490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992D0C6-54B6-2BA3-76A8-99D7DC615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35F079DA-19F7-26B2-0230-AFF2F22B84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50C5F13F-4AC5-0AAF-C794-F028296FF2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D32A9D2-8845-CE20-87F2-C4A26B722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24.08.2026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FE1DAA2A-6355-788A-17C5-E28840DF8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8CACA501-4190-AE87-7BF3-9840868CD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199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349D6ED-E282-9B78-4876-E537D871C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D296AE09-8DCD-FC54-0A04-13E0871A4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9749435A-A7E0-8B90-A05B-A0C5931DB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14347C6-E941-9D62-FB66-D860EFBE5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24.08.2026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2F9D7838-5364-0186-FB53-D037192C6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93A358EA-51EF-49CA-549F-C70E4C9F3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47038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162F0E5-BF0D-5C1D-24F4-47DBE89A0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C38129C7-329B-AA82-CBCE-FD924D8F0A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C417773-1558-FCAB-DAB1-0B4806D48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24.08.2026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5C3B583-25E6-25CD-E407-E40CA7757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E708256-6090-293E-A6A8-258D29541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34904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84FDC7A2-0407-E4AF-C545-6C2CBF1C93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1670B019-1246-5896-9EE5-FA4BD70A7E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721C0BEA-D6DB-3B44-BC54-3DE73A2B7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09914-A052-41C0-AB34-A4555936D3D8}" type="datetimeFigureOut">
              <a:rPr lang="tr-TR" smtClean="0"/>
              <a:t>24.08.2026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40F2EF2-5AD0-7A1F-3095-8A6FF57A3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943E0EA3-467E-FBB4-304D-93DE5FC93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29201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219888C3-194A-01D7-A5E0-C09033AB9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E895EC72-ADB0-A421-2DCE-AB2C62D83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EC61924-4EBB-060F-0875-FE0A336810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A09914-A052-41C0-AB34-A4555936D3D8}" type="datetimeFigureOut">
              <a:rPr lang="tr-TR" smtClean="0"/>
              <a:t>24.08.2026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F1BE1702-A22E-8992-95F3-2587258A5E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A7157B2-485B-02C1-4DD9-2E0A2835EF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F6B392-92A3-499A-811E-BB4F2E7ED6B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20765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81472CB-6046-CC82-D8FE-99A8A227BD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tr-TR" dirty="0"/>
              <a:t>SÜLASİ MÜCERRED BABLAR</a:t>
            </a:r>
          </a:p>
        </p:txBody>
      </p:sp>
      <p:grpSp>
        <p:nvGrpSpPr>
          <p:cNvPr id="36" name="Grup 35">
            <a:extLst>
              <a:ext uri="{FF2B5EF4-FFF2-40B4-BE49-F238E27FC236}">
                <a16:creationId xmlns:a16="http://schemas.microsoft.com/office/drawing/2014/main" id="{1ACDF3B8-6930-6C01-FAA3-EB5194D665C6}"/>
              </a:ext>
            </a:extLst>
          </p:cNvPr>
          <p:cNvGrpSpPr/>
          <p:nvPr/>
        </p:nvGrpSpPr>
        <p:grpSpPr>
          <a:xfrm>
            <a:off x="1966402" y="4081530"/>
            <a:ext cx="819510" cy="1631041"/>
            <a:chOff x="1966402" y="4081530"/>
            <a:chExt cx="819510" cy="1631041"/>
          </a:xfrm>
        </p:grpSpPr>
        <p:sp>
          <p:nvSpPr>
            <p:cNvPr id="4" name="Dikdörtgen 3">
              <a:extLst>
                <a:ext uri="{FF2B5EF4-FFF2-40B4-BE49-F238E27FC236}">
                  <a16:creationId xmlns:a16="http://schemas.microsoft.com/office/drawing/2014/main" id="{2013AE98-3AAF-FAC6-FACD-250604F22A20}"/>
                </a:ext>
              </a:extLst>
            </p:cNvPr>
            <p:cNvSpPr/>
            <p:nvPr/>
          </p:nvSpPr>
          <p:spPr>
            <a:xfrm>
              <a:off x="1966402" y="4384103"/>
              <a:ext cx="819510" cy="1328468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tr-TR"/>
            </a:p>
          </p:txBody>
        </p:sp>
        <p:sp>
          <p:nvSpPr>
            <p:cNvPr id="5" name="Metin kutusu 4">
              <a:extLst>
                <a:ext uri="{FF2B5EF4-FFF2-40B4-BE49-F238E27FC236}">
                  <a16:creationId xmlns:a16="http://schemas.microsoft.com/office/drawing/2014/main" id="{E4538B2D-31B3-BD3D-3336-22B955B9C0F4}"/>
                </a:ext>
              </a:extLst>
            </p:cNvPr>
            <p:cNvSpPr txBox="1"/>
            <p:nvPr/>
          </p:nvSpPr>
          <p:spPr>
            <a:xfrm>
              <a:off x="2043373" y="4486628"/>
              <a:ext cx="6655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فَعَلَ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7" name="Metin kutusu 6">
              <a:extLst>
                <a:ext uri="{FF2B5EF4-FFF2-40B4-BE49-F238E27FC236}">
                  <a16:creationId xmlns:a16="http://schemas.microsoft.com/office/drawing/2014/main" id="{D8F6C4B3-F7C5-2F48-9CC7-962A82AA778F}"/>
                </a:ext>
              </a:extLst>
            </p:cNvPr>
            <p:cNvSpPr txBox="1"/>
            <p:nvPr/>
          </p:nvSpPr>
          <p:spPr>
            <a:xfrm>
              <a:off x="1994480" y="5099102"/>
              <a:ext cx="76335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يَفْعُلُ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cxnSp>
          <p:nvCxnSpPr>
            <p:cNvPr id="9" name="Düz Bağlayıcı 8">
              <a:extLst>
                <a:ext uri="{FF2B5EF4-FFF2-40B4-BE49-F238E27FC236}">
                  <a16:creationId xmlns:a16="http://schemas.microsoft.com/office/drawing/2014/main" id="{F0FE9E48-6AB5-DD06-A313-BB56CAF56F31}"/>
                </a:ext>
              </a:extLst>
            </p:cNvPr>
            <p:cNvCxnSpPr>
              <a:cxnSpLocks/>
              <a:stCxn id="4" idx="1"/>
              <a:endCxn id="4" idx="3"/>
            </p:cNvCxnSpPr>
            <p:nvPr/>
          </p:nvCxnSpPr>
          <p:spPr>
            <a:xfrm>
              <a:off x="1966402" y="5048337"/>
              <a:ext cx="819510" cy="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prst="convex"/>
            </a:sp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Metin kutusu 9">
              <a:extLst>
                <a:ext uri="{FF2B5EF4-FFF2-40B4-BE49-F238E27FC236}">
                  <a16:creationId xmlns:a16="http://schemas.microsoft.com/office/drawing/2014/main" id="{CDE44752-8B59-44FF-74A2-8EB004C9CF8C}"/>
                </a:ext>
              </a:extLst>
            </p:cNvPr>
            <p:cNvSpPr txBox="1"/>
            <p:nvPr/>
          </p:nvSpPr>
          <p:spPr>
            <a:xfrm>
              <a:off x="1966402" y="4081530"/>
              <a:ext cx="69403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1400" dirty="0"/>
                <a:t>1</a:t>
              </a:r>
              <a:r>
                <a:rPr lang="tr-TR" sz="1400" dirty="0"/>
                <a:t>. BAB</a:t>
              </a:r>
            </a:p>
          </p:txBody>
        </p:sp>
      </p:grpSp>
      <p:grpSp>
        <p:nvGrpSpPr>
          <p:cNvPr id="37" name="Grup 36">
            <a:extLst>
              <a:ext uri="{FF2B5EF4-FFF2-40B4-BE49-F238E27FC236}">
                <a16:creationId xmlns:a16="http://schemas.microsoft.com/office/drawing/2014/main" id="{810ADEEA-39B8-2255-0B42-B656FC3F5580}"/>
              </a:ext>
            </a:extLst>
          </p:cNvPr>
          <p:cNvGrpSpPr/>
          <p:nvPr/>
        </p:nvGrpSpPr>
        <p:grpSpPr>
          <a:xfrm>
            <a:off x="3477479" y="4085811"/>
            <a:ext cx="819510" cy="1631041"/>
            <a:chOff x="3395315" y="4085811"/>
            <a:chExt cx="819510" cy="1631041"/>
          </a:xfrm>
        </p:grpSpPr>
        <p:sp>
          <p:nvSpPr>
            <p:cNvPr id="11" name="Dikdörtgen 10">
              <a:extLst>
                <a:ext uri="{FF2B5EF4-FFF2-40B4-BE49-F238E27FC236}">
                  <a16:creationId xmlns:a16="http://schemas.microsoft.com/office/drawing/2014/main" id="{7896D91C-6F6B-0E59-DAEB-2CF46F3398F9}"/>
                </a:ext>
              </a:extLst>
            </p:cNvPr>
            <p:cNvSpPr/>
            <p:nvPr/>
          </p:nvSpPr>
          <p:spPr>
            <a:xfrm>
              <a:off x="3395315" y="4388384"/>
              <a:ext cx="819510" cy="1328468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tr-TR"/>
            </a:p>
          </p:txBody>
        </p:sp>
        <p:sp>
          <p:nvSpPr>
            <p:cNvPr id="12" name="Metin kutusu 11">
              <a:extLst>
                <a:ext uri="{FF2B5EF4-FFF2-40B4-BE49-F238E27FC236}">
                  <a16:creationId xmlns:a16="http://schemas.microsoft.com/office/drawing/2014/main" id="{952A3BC0-8987-3E83-99AA-E2607CDE2AAF}"/>
                </a:ext>
              </a:extLst>
            </p:cNvPr>
            <p:cNvSpPr txBox="1"/>
            <p:nvPr/>
          </p:nvSpPr>
          <p:spPr>
            <a:xfrm>
              <a:off x="3472286" y="4490909"/>
              <a:ext cx="6655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فَعَلَ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3" name="Metin kutusu 12">
              <a:extLst>
                <a:ext uri="{FF2B5EF4-FFF2-40B4-BE49-F238E27FC236}">
                  <a16:creationId xmlns:a16="http://schemas.microsoft.com/office/drawing/2014/main" id="{E7F09FA7-FBE0-633A-DC88-BB12F2AAEE97}"/>
                </a:ext>
              </a:extLst>
            </p:cNvPr>
            <p:cNvSpPr txBox="1"/>
            <p:nvPr/>
          </p:nvSpPr>
          <p:spPr>
            <a:xfrm>
              <a:off x="3423393" y="5103383"/>
              <a:ext cx="76335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يَفْعِلُ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cxnSp>
          <p:nvCxnSpPr>
            <p:cNvPr id="14" name="Düz Bağlayıcı 13">
              <a:extLst>
                <a:ext uri="{FF2B5EF4-FFF2-40B4-BE49-F238E27FC236}">
                  <a16:creationId xmlns:a16="http://schemas.microsoft.com/office/drawing/2014/main" id="{C85D1D17-A50B-D04A-F8B7-3BF869539B4B}"/>
                </a:ext>
              </a:extLst>
            </p:cNvPr>
            <p:cNvCxnSpPr>
              <a:cxnSpLocks/>
              <a:stCxn id="11" idx="1"/>
              <a:endCxn id="11" idx="3"/>
            </p:cNvCxnSpPr>
            <p:nvPr/>
          </p:nvCxnSpPr>
          <p:spPr>
            <a:xfrm>
              <a:off x="3395315" y="5052618"/>
              <a:ext cx="819510" cy="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prst="convex"/>
            </a:sp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Metin kutusu 14">
              <a:extLst>
                <a:ext uri="{FF2B5EF4-FFF2-40B4-BE49-F238E27FC236}">
                  <a16:creationId xmlns:a16="http://schemas.microsoft.com/office/drawing/2014/main" id="{685A8C2F-1EC2-0004-95DD-4DAAED3F63C9}"/>
                </a:ext>
              </a:extLst>
            </p:cNvPr>
            <p:cNvSpPr txBox="1"/>
            <p:nvPr/>
          </p:nvSpPr>
          <p:spPr>
            <a:xfrm>
              <a:off x="3395315" y="4085811"/>
              <a:ext cx="69083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400" dirty="0"/>
                <a:t>2. BAB</a:t>
              </a:r>
            </a:p>
          </p:txBody>
        </p:sp>
      </p:grpSp>
      <p:grpSp>
        <p:nvGrpSpPr>
          <p:cNvPr id="38" name="Grup 37">
            <a:extLst>
              <a:ext uri="{FF2B5EF4-FFF2-40B4-BE49-F238E27FC236}">
                <a16:creationId xmlns:a16="http://schemas.microsoft.com/office/drawing/2014/main" id="{0815D6D6-A9D9-56FE-EE05-88C6A4AB136C}"/>
              </a:ext>
            </a:extLst>
          </p:cNvPr>
          <p:cNvGrpSpPr/>
          <p:nvPr/>
        </p:nvGrpSpPr>
        <p:grpSpPr>
          <a:xfrm>
            <a:off x="4988556" y="4077574"/>
            <a:ext cx="819510" cy="1631041"/>
            <a:chOff x="4915644" y="4077574"/>
            <a:chExt cx="819510" cy="1631041"/>
          </a:xfrm>
        </p:grpSpPr>
        <p:sp>
          <p:nvSpPr>
            <p:cNvPr id="16" name="Dikdörtgen 15">
              <a:extLst>
                <a:ext uri="{FF2B5EF4-FFF2-40B4-BE49-F238E27FC236}">
                  <a16:creationId xmlns:a16="http://schemas.microsoft.com/office/drawing/2014/main" id="{40BB0873-FDF8-7EF4-6305-DA7E9E98E5D7}"/>
                </a:ext>
              </a:extLst>
            </p:cNvPr>
            <p:cNvSpPr/>
            <p:nvPr/>
          </p:nvSpPr>
          <p:spPr>
            <a:xfrm>
              <a:off x="4915644" y="4380147"/>
              <a:ext cx="819510" cy="1328468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tr-TR"/>
            </a:p>
          </p:txBody>
        </p:sp>
        <p:sp>
          <p:nvSpPr>
            <p:cNvPr id="17" name="Metin kutusu 16">
              <a:extLst>
                <a:ext uri="{FF2B5EF4-FFF2-40B4-BE49-F238E27FC236}">
                  <a16:creationId xmlns:a16="http://schemas.microsoft.com/office/drawing/2014/main" id="{03557F84-2368-1479-DD7D-3FBD59A67E6E}"/>
                </a:ext>
              </a:extLst>
            </p:cNvPr>
            <p:cNvSpPr txBox="1"/>
            <p:nvPr/>
          </p:nvSpPr>
          <p:spPr>
            <a:xfrm>
              <a:off x="4992615" y="4482672"/>
              <a:ext cx="6655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فَعَلَ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8" name="Metin kutusu 17">
              <a:extLst>
                <a:ext uri="{FF2B5EF4-FFF2-40B4-BE49-F238E27FC236}">
                  <a16:creationId xmlns:a16="http://schemas.microsoft.com/office/drawing/2014/main" id="{64A6392B-A214-6B51-2E51-871FB80BF985}"/>
                </a:ext>
              </a:extLst>
            </p:cNvPr>
            <p:cNvSpPr txBox="1"/>
            <p:nvPr/>
          </p:nvSpPr>
          <p:spPr>
            <a:xfrm>
              <a:off x="4943722" y="5095146"/>
              <a:ext cx="76335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يَفْعَلُ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cxnSp>
          <p:nvCxnSpPr>
            <p:cNvPr id="19" name="Düz Bağlayıcı 18">
              <a:extLst>
                <a:ext uri="{FF2B5EF4-FFF2-40B4-BE49-F238E27FC236}">
                  <a16:creationId xmlns:a16="http://schemas.microsoft.com/office/drawing/2014/main" id="{7CA760A1-1555-AA52-3823-97B7C1BA5F6D}"/>
                </a:ext>
              </a:extLst>
            </p:cNvPr>
            <p:cNvCxnSpPr>
              <a:cxnSpLocks/>
              <a:stCxn id="16" idx="1"/>
              <a:endCxn id="16" idx="3"/>
            </p:cNvCxnSpPr>
            <p:nvPr/>
          </p:nvCxnSpPr>
          <p:spPr>
            <a:xfrm>
              <a:off x="4915644" y="5044381"/>
              <a:ext cx="819510" cy="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prst="convex"/>
            </a:sp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Metin kutusu 19">
              <a:extLst>
                <a:ext uri="{FF2B5EF4-FFF2-40B4-BE49-F238E27FC236}">
                  <a16:creationId xmlns:a16="http://schemas.microsoft.com/office/drawing/2014/main" id="{65C0FBA1-F2C2-F79C-D8B6-136BE34DC5B9}"/>
                </a:ext>
              </a:extLst>
            </p:cNvPr>
            <p:cNvSpPr txBox="1"/>
            <p:nvPr/>
          </p:nvSpPr>
          <p:spPr>
            <a:xfrm>
              <a:off x="4918850" y="4077574"/>
              <a:ext cx="69083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400" dirty="0"/>
                <a:t>3. BAB</a:t>
              </a:r>
            </a:p>
          </p:txBody>
        </p:sp>
      </p:grpSp>
      <p:grpSp>
        <p:nvGrpSpPr>
          <p:cNvPr id="39" name="Grup 38">
            <a:extLst>
              <a:ext uri="{FF2B5EF4-FFF2-40B4-BE49-F238E27FC236}">
                <a16:creationId xmlns:a16="http://schemas.microsoft.com/office/drawing/2014/main" id="{1055A103-4928-D9C6-444D-DD23814AB532}"/>
              </a:ext>
            </a:extLst>
          </p:cNvPr>
          <p:cNvGrpSpPr/>
          <p:nvPr/>
        </p:nvGrpSpPr>
        <p:grpSpPr>
          <a:xfrm>
            <a:off x="6499633" y="4058520"/>
            <a:ext cx="819510" cy="1650095"/>
            <a:chOff x="6439355" y="4058520"/>
            <a:chExt cx="819510" cy="1650095"/>
          </a:xfrm>
        </p:grpSpPr>
        <p:sp>
          <p:nvSpPr>
            <p:cNvPr id="21" name="Dikdörtgen 20">
              <a:extLst>
                <a:ext uri="{FF2B5EF4-FFF2-40B4-BE49-F238E27FC236}">
                  <a16:creationId xmlns:a16="http://schemas.microsoft.com/office/drawing/2014/main" id="{BFA7C1C4-6021-3443-02B5-F685B8A0B2D1}"/>
                </a:ext>
              </a:extLst>
            </p:cNvPr>
            <p:cNvSpPr/>
            <p:nvPr/>
          </p:nvSpPr>
          <p:spPr>
            <a:xfrm>
              <a:off x="6439355" y="4380147"/>
              <a:ext cx="819510" cy="1328468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tr-TR"/>
            </a:p>
          </p:txBody>
        </p:sp>
        <p:sp>
          <p:nvSpPr>
            <p:cNvPr id="22" name="Metin kutusu 21">
              <a:extLst>
                <a:ext uri="{FF2B5EF4-FFF2-40B4-BE49-F238E27FC236}">
                  <a16:creationId xmlns:a16="http://schemas.microsoft.com/office/drawing/2014/main" id="{99385DCD-10BC-2096-39CA-28ABD35B2642}"/>
                </a:ext>
              </a:extLst>
            </p:cNvPr>
            <p:cNvSpPr txBox="1"/>
            <p:nvPr/>
          </p:nvSpPr>
          <p:spPr>
            <a:xfrm>
              <a:off x="6516326" y="4482672"/>
              <a:ext cx="6655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فَعِلَ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23" name="Metin kutusu 22">
              <a:extLst>
                <a:ext uri="{FF2B5EF4-FFF2-40B4-BE49-F238E27FC236}">
                  <a16:creationId xmlns:a16="http://schemas.microsoft.com/office/drawing/2014/main" id="{F47A6E6D-FF30-4DE0-2823-26812625B292}"/>
                </a:ext>
              </a:extLst>
            </p:cNvPr>
            <p:cNvSpPr txBox="1"/>
            <p:nvPr/>
          </p:nvSpPr>
          <p:spPr>
            <a:xfrm>
              <a:off x="6467433" y="5095146"/>
              <a:ext cx="76335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يَفْعَلُ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cxnSp>
          <p:nvCxnSpPr>
            <p:cNvPr id="24" name="Düz Bağlayıcı 23">
              <a:extLst>
                <a:ext uri="{FF2B5EF4-FFF2-40B4-BE49-F238E27FC236}">
                  <a16:creationId xmlns:a16="http://schemas.microsoft.com/office/drawing/2014/main" id="{5D38D918-22C3-58E3-84BC-2B11FA4153FF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6439355" y="5044381"/>
              <a:ext cx="819510" cy="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prst="convex"/>
            </a:sp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Metin kutusu 24">
              <a:extLst>
                <a:ext uri="{FF2B5EF4-FFF2-40B4-BE49-F238E27FC236}">
                  <a16:creationId xmlns:a16="http://schemas.microsoft.com/office/drawing/2014/main" id="{E9989188-38E8-211B-E904-FA65EF693484}"/>
                </a:ext>
              </a:extLst>
            </p:cNvPr>
            <p:cNvSpPr txBox="1"/>
            <p:nvPr/>
          </p:nvSpPr>
          <p:spPr>
            <a:xfrm>
              <a:off x="6463069" y="4058520"/>
              <a:ext cx="69083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400" dirty="0"/>
                <a:t>4. BAB</a:t>
              </a:r>
            </a:p>
          </p:txBody>
        </p:sp>
      </p:grpSp>
      <p:grpSp>
        <p:nvGrpSpPr>
          <p:cNvPr id="40" name="Grup 39">
            <a:extLst>
              <a:ext uri="{FF2B5EF4-FFF2-40B4-BE49-F238E27FC236}">
                <a16:creationId xmlns:a16="http://schemas.microsoft.com/office/drawing/2014/main" id="{26890FAE-234F-881D-09FD-B3C8AF2542F4}"/>
              </a:ext>
            </a:extLst>
          </p:cNvPr>
          <p:cNvGrpSpPr/>
          <p:nvPr/>
        </p:nvGrpSpPr>
        <p:grpSpPr>
          <a:xfrm>
            <a:off x="8010710" y="4085128"/>
            <a:ext cx="819510" cy="1600421"/>
            <a:chOff x="8021829" y="4085128"/>
            <a:chExt cx="819510" cy="1600421"/>
          </a:xfrm>
        </p:grpSpPr>
        <p:sp>
          <p:nvSpPr>
            <p:cNvPr id="26" name="Dikdörtgen 25">
              <a:extLst>
                <a:ext uri="{FF2B5EF4-FFF2-40B4-BE49-F238E27FC236}">
                  <a16:creationId xmlns:a16="http://schemas.microsoft.com/office/drawing/2014/main" id="{1D056538-AA3F-1058-7CD9-3D8C03A48161}"/>
                </a:ext>
              </a:extLst>
            </p:cNvPr>
            <p:cNvSpPr/>
            <p:nvPr/>
          </p:nvSpPr>
          <p:spPr>
            <a:xfrm>
              <a:off x="8021829" y="4357081"/>
              <a:ext cx="819510" cy="1328468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tr-TR"/>
            </a:p>
          </p:txBody>
        </p:sp>
        <p:sp>
          <p:nvSpPr>
            <p:cNvPr id="27" name="Metin kutusu 26">
              <a:extLst>
                <a:ext uri="{FF2B5EF4-FFF2-40B4-BE49-F238E27FC236}">
                  <a16:creationId xmlns:a16="http://schemas.microsoft.com/office/drawing/2014/main" id="{4BB0114D-7C2B-B0C3-EDFF-5FF0E0D59601}"/>
                </a:ext>
              </a:extLst>
            </p:cNvPr>
            <p:cNvSpPr txBox="1"/>
            <p:nvPr/>
          </p:nvSpPr>
          <p:spPr>
            <a:xfrm>
              <a:off x="8098800" y="4459606"/>
              <a:ext cx="6655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فَعُلَ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28" name="Metin kutusu 27">
              <a:extLst>
                <a:ext uri="{FF2B5EF4-FFF2-40B4-BE49-F238E27FC236}">
                  <a16:creationId xmlns:a16="http://schemas.microsoft.com/office/drawing/2014/main" id="{891E1978-C013-D8F3-CB5B-D193EDDBAC3B}"/>
                </a:ext>
              </a:extLst>
            </p:cNvPr>
            <p:cNvSpPr txBox="1"/>
            <p:nvPr/>
          </p:nvSpPr>
          <p:spPr>
            <a:xfrm>
              <a:off x="8049907" y="5072080"/>
              <a:ext cx="76335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يَفْعُلُ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cxnSp>
          <p:nvCxnSpPr>
            <p:cNvPr id="29" name="Düz Bağlayıcı 28">
              <a:extLst>
                <a:ext uri="{FF2B5EF4-FFF2-40B4-BE49-F238E27FC236}">
                  <a16:creationId xmlns:a16="http://schemas.microsoft.com/office/drawing/2014/main" id="{9E746192-F2FF-A26A-45C6-0911A6350464}"/>
                </a:ext>
              </a:extLst>
            </p:cNvPr>
            <p:cNvCxnSpPr>
              <a:cxnSpLocks/>
              <a:stCxn id="26" idx="1"/>
              <a:endCxn id="26" idx="3"/>
            </p:cNvCxnSpPr>
            <p:nvPr/>
          </p:nvCxnSpPr>
          <p:spPr>
            <a:xfrm>
              <a:off x="8021829" y="5021315"/>
              <a:ext cx="819510" cy="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prst="convex"/>
            </a:sp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Metin kutusu 29">
              <a:extLst>
                <a:ext uri="{FF2B5EF4-FFF2-40B4-BE49-F238E27FC236}">
                  <a16:creationId xmlns:a16="http://schemas.microsoft.com/office/drawing/2014/main" id="{6F9C4D3D-E292-6511-D81C-986BE9503FCB}"/>
                </a:ext>
              </a:extLst>
            </p:cNvPr>
            <p:cNvSpPr txBox="1"/>
            <p:nvPr/>
          </p:nvSpPr>
          <p:spPr>
            <a:xfrm>
              <a:off x="8038859" y="4085128"/>
              <a:ext cx="69083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400" dirty="0"/>
                <a:t>5. BAB</a:t>
              </a:r>
            </a:p>
          </p:txBody>
        </p:sp>
      </p:grpSp>
      <p:grpSp>
        <p:nvGrpSpPr>
          <p:cNvPr id="41" name="Grup 40">
            <a:extLst>
              <a:ext uri="{FF2B5EF4-FFF2-40B4-BE49-F238E27FC236}">
                <a16:creationId xmlns:a16="http://schemas.microsoft.com/office/drawing/2014/main" id="{9DB343CD-BFAB-F5CE-B53A-D1A942732632}"/>
              </a:ext>
            </a:extLst>
          </p:cNvPr>
          <p:cNvGrpSpPr/>
          <p:nvPr/>
        </p:nvGrpSpPr>
        <p:grpSpPr>
          <a:xfrm>
            <a:off x="9521788" y="4058519"/>
            <a:ext cx="819510" cy="1598336"/>
            <a:chOff x="9521788" y="4058519"/>
            <a:chExt cx="819510" cy="1598336"/>
          </a:xfrm>
        </p:grpSpPr>
        <p:sp>
          <p:nvSpPr>
            <p:cNvPr id="31" name="Dikdörtgen 30">
              <a:extLst>
                <a:ext uri="{FF2B5EF4-FFF2-40B4-BE49-F238E27FC236}">
                  <a16:creationId xmlns:a16="http://schemas.microsoft.com/office/drawing/2014/main" id="{F09B160E-C735-0005-F578-7726E3028BFC}"/>
                </a:ext>
              </a:extLst>
            </p:cNvPr>
            <p:cNvSpPr/>
            <p:nvPr/>
          </p:nvSpPr>
          <p:spPr>
            <a:xfrm>
              <a:off x="9521788" y="4328387"/>
              <a:ext cx="819510" cy="1328468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tr-TR"/>
            </a:p>
          </p:txBody>
        </p:sp>
        <p:sp>
          <p:nvSpPr>
            <p:cNvPr id="32" name="Metin kutusu 31">
              <a:extLst>
                <a:ext uri="{FF2B5EF4-FFF2-40B4-BE49-F238E27FC236}">
                  <a16:creationId xmlns:a16="http://schemas.microsoft.com/office/drawing/2014/main" id="{807A5FB2-8233-B8E1-5EC9-9DDFB0CF548E}"/>
                </a:ext>
              </a:extLst>
            </p:cNvPr>
            <p:cNvSpPr txBox="1"/>
            <p:nvPr/>
          </p:nvSpPr>
          <p:spPr>
            <a:xfrm>
              <a:off x="9598759" y="4430912"/>
              <a:ext cx="6655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فَعِلَ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33" name="Metin kutusu 32">
              <a:extLst>
                <a:ext uri="{FF2B5EF4-FFF2-40B4-BE49-F238E27FC236}">
                  <a16:creationId xmlns:a16="http://schemas.microsoft.com/office/drawing/2014/main" id="{E5BFD494-551B-AA25-5A23-CDA800BA82CE}"/>
                </a:ext>
              </a:extLst>
            </p:cNvPr>
            <p:cNvSpPr txBox="1"/>
            <p:nvPr/>
          </p:nvSpPr>
          <p:spPr>
            <a:xfrm>
              <a:off x="9549866" y="5043386"/>
              <a:ext cx="76335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r-AE" sz="3200" dirty="0">
                  <a:solidFill>
                    <a:schemeClr val="bg1">
                      <a:lumMod val="95000"/>
                    </a:schemeClr>
                  </a:solidFill>
                </a:rPr>
                <a:t>يَفْعِلُ</a:t>
              </a:r>
              <a:endParaRPr lang="tr-TR" sz="32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cxnSp>
          <p:nvCxnSpPr>
            <p:cNvPr id="34" name="Düz Bağlayıcı 33">
              <a:extLst>
                <a:ext uri="{FF2B5EF4-FFF2-40B4-BE49-F238E27FC236}">
                  <a16:creationId xmlns:a16="http://schemas.microsoft.com/office/drawing/2014/main" id="{7359CC77-0F1C-32E1-AF20-A68B2A0B8438}"/>
                </a:ext>
              </a:extLst>
            </p:cNvPr>
            <p:cNvCxnSpPr>
              <a:cxnSpLocks/>
              <a:stCxn id="31" idx="1"/>
              <a:endCxn id="31" idx="3"/>
            </p:cNvCxnSpPr>
            <p:nvPr/>
          </p:nvCxnSpPr>
          <p:spPr>
            <a:xfrm>
              <a:off x="9521788" y="4992621"/>
              <a:ext cx="819510" cy="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prst="convex"/>
            </a:sp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Metin kutusu 34">
              <a:extLst>
                <a:ext uri="{FF2B5EF4-FFF2-40B4-BE49-F238E27FC236}">
                  <a16:creationId xmlns:a16="http://schemas.microsoft.com/office/drawing/2014/main" id="{3B63454A-D79D-DC8E-62C0-2B90F6BEA034}"/>
                </a:ext>
              </a:extLst>
            </p:cNvPr>
            <p:cNvSpPr txBox="1"/>
            <p:nvPr/>
          </p:nvSpPr>
          <p:spPr>
            <a:xfrm>
              <a:off x="9586126" y="4058519"/>
              <a:ext cx="69083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400" dirty="0"/>
                <a:t>6. BAB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40846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MÜCERRED 1. BAB</a:t>
            </a:r>
            <a:endParaRPr lang="ar-AE" dirty="0"/>
          </a:p>
          <a:p>
            <a:pPr algn="ctr"/>
            <a:endParaRPr lang="tr-TR" dirty="0"/>
          </a:p>
          <a:p>
            <a:pPr algn="ctr"/>
            <a:r>
              <a:rPr lang="ar-AE" sz="3200" b="1" dirty="0"/>
              <a:t>فَعَلَ – يَفْعُلُ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93320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FFFFFF"/>
          </a:solidFill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fiilinin mazide </a:t>
            </a:r>
            <a:r>
              <a:rPr lang="tr-TR" dirty="0" err="1">
                <a:solidFill>
                  <a:schemeClr val="tx1"/>
                </a:solidFill>
              </a:rPr>
              <a:t>üstünlü</a:t>
            </a:r>
            <a:r>
              <a:rPr lang="tr-TR" dirty="0">
                <a:solidFill>
                  <a:schemeClr val="tx1"/>
                </a:solidFill>
              </a:rPr>
              <a:t> </a:t>
            </a:r>
            <a:r>
              <a:rPr lang="tr-TR" dirty="0" err="1">
                <a:solidFill>
                  <a:schemeClr val="tx1"/>
                </a:solidFill>
              </a:rPr>
              <a:t>muzari</a:t>
            </a:r>
            <a:r>
              <a:rPr lang="tr-TR" dirty="0">
                <a:solidFill>
                  <a:schemeClr val="tx1"/>
                </a:solidFill>
              </a:rPr>
              <a:t> de </a:t>
            </a:r>
            <a:r>
              <a:rPr lang="tr-TR" dirty="0" err="1">
                <a:solidFill>
                  <a:schemeClr val="tx1"/>
                </a:solidFill>
              </a:rPr>
              <a:t>ötreli</a:t>
            </a:r>
            <a:r>
              <a:rPr lang="tr-TR" dirty="0">
                <a:solidFill>
                  <a:schemeClr val="tx1"/>
                </a:solidFill>
              </a:rPr>
              <a:t>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Çoğu Kere  </a:t>
            </a:r>
            <a:r>
              <a:rPr lang="tr-TR" dirty="0" err="1">
                <a:solidFill>
                  <a:schemeClr val="tx1"/>
                </a:solidFill>
              </a:rPr>
              <a:t>Müteaddi</a:t>
            </a:r>
            <a:r>
              <a:rPr lang="tr-TR" dirty="0">
                <a:solidFill>
                  <a:schemeClr val="tx1"/>
                </a:solidFill>
              </a:rPr>
              <a:t>, Bazen Lazım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فَعَلَ – يَفْعُلُ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نَصَرَ – يَنْصُرُ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7482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MÜCERRED </a:t>
            </a:r>
            <a:r>
              <a:rPr lang="ar-AE" dirty="0"/>
              <a:t>2</a:t>
            </a:r>
            <a:r>
              <a:rPr lang="tr-TR" dirty="0"/>
              <a:t>. BAB</a:t>
            </a:r>
            <a:endParaRPr lang="ar-AE" dirty="0"/>
          </a:p>
          <a:p>
            <a:pPr algn="ctr"/>
            <a:endParaRPr lang="tr-TR" dirty="0"/>
          </a:p>
          <a:p>
            <a:pPr algn="ctr"/>
            <a:r>
              <a:rPr lang="ar-AE" sz="3200" b="1" dirty="0"/>
              <a:t>فَعَلَ – يَفْعِلُ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93320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fiilinin mazide </a:t>
            </a:r>
            <a:r>
              <a:rPr lang="tr-TR" dirty="0" err="1">
                <a:solidFill>
                  <a:schemeClr val="tx1"/>
                </a:solidFill>
              </a:rPr>
              <a:t>üstünlü</a:t>
            </a:r>
            <a:r>
              <a:rPr lang="tr-TR" dirty="0">
                <a:solidFill>
                  <a:schemeClr val="tx1"/>
                </a:solidFill>
              </a:rPr>
              <a:t> </a:t>
            </a:r>
            <a:r>
              <a:rPr lang="tr-TR" dirty="0" err="1">
                <a:solidFill>
                  <a:schemeClr val="tx1"/>
                </a:solidFill>
              </a:rPr>
              <a:t>muzari</a:t>
            </a:r>
            <a:r>
              <a:rPr lang="tr-TR" dirty="0">
                <a:solidFill>
                  <a:schemeClr val="tx1"/>
                </a:solidFill>
              </a:rPr>
              <a:t> de </a:t>
            </a:r>
            <a:r>
              <a:rPr lang="tr-TR" dirty="0" err="1">
                <a:solidFill>
                  <a:schemeClr val="tx1"/>
                </a:solidFill>
              </a:rPr>
              <a:t>esreli</a:t>
            </a:r>
            <a:r>
              <a:rPr lang="tr-TR" dirty="0">
                <a:solidFill>
                  <a:schemeClr val="tx1"/>
                </a:solidFill>
              </a:rPr>
              <a:t>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Çoğu Kere  </a:t>
            </a:r>
            <a:r>
              <a:rPr lang="tr-TR" dirty="0" err="1">
                <a:solidFill>
                  <a:schemeClr val="tx1"/>
                </a:solidFill>
              </a:rPr>
              <a:t>Müteaddi</a:t>
            </a:r>
            <a:r>
              <a:rPr lang="tr-TR" dirty="0">
                <a:solidFill>
                  <a:schemeClr val="tx1"/>
                </a:solidFill>
              </a:rPr>
              <a:t>, Bazen Lazım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فَعَلَ – يَفْعِلُ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ضَرَبَ – يَضْرِبُ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605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MÜCERRED </a:t>
            </a:r>
            <a:r>
              <a:rPr lang="ar-AE" dirty="0"/>
              <a:t>3</a:t>
            </a:r>
            <a:r>
              <a:rPr lang="tr-TR" dirty="0"/>
              <a:t>. BAB</a:t>
            </a:r>
            <a:endParaRPr lang="ar-AE" dirty="0"/>
          </a:p>
          <a:p>
            <a:pPr algn="ctr"/>
            <a:endParaRPr lang="tr-TR" dirty="0"/>
          </a:p>
          <a:p>
            <a:pPr algn="ctr"/>
            <a:r>
              <a:rPr lang="ar-AE" sz="3200" b="1" dirty="0"/>
              <a:t>فَعَلَ – يَفْعَلُ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93320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</a:p>
          <a:p>
            <a:pPr marL="342900" indent="-342900">
              <a:buFont typeface="+mj-lt"/>
              <a:buAutoNum type="arabicPeriod"/>
            </a:pPr>
            <a:r>
              <a:rPr lang="tr-TR" sz="1200" dirty="0" err="1">
                <a:solidFill>
                  <a:schemeClr val="tx1"/>
                </a:solidFill>
              </a:rPr>
              <a:t>Aynel</a:t>
            </a:r>
            <a:r>
              <a:rPr lang="tr-TR" sz="1200" dirty="0">
                <a:solidFill>
                  <a:schemeClr val="tx1"/>
                </a:solidFill>
              </a:rPr>
              <a:t> fiilinin mazide ve </a:t>
            </a:r>
            <a:r>
              <a:rPr lang="tr-TR" sz="1200" dirty="0" err="1">
                <a:solidFill>
                  <a:schemeClr val="tx1"/>
                </a:solidFill>
              </a:rPr>
              <a:t>muzaride</a:t>
            </a:r>
            <a:r>
              <a:rPr lang="tr-TR" sz="1200" dirty="0">
                <a:solidFill>
                  <a:schemeClr val="tx1"/>
                </a:solidFill>
              </a:rPr>
              <a:t> </a:t>
            </a:r>
            <a:r>
              <a:rPr lang="tr-TR" sz="1200" dirty="0" err="1">
                <a:solidFill>
                  <a:schemeClr val="tx1"/>
                </a:solidFill>
              </a:rPr>
              <a:t>üstünlü</a:t>
            </a:r>
            <a:r>
              <a:rPr lang="tr-TR" sz="1200" dirty="0">
                <a:solidFill>
                  <a:schemeClr val="tx1"/>
                </a:solidFill>
              </a:rPr>
              <a:t> olmasıdır.</a:t>
            </a:r>
            <a:r>
              <a:rPr lang="ar-AE" sz="1200" dirty="0">
                <a:solidFill>
                  <a:schemeClr val="tx1"/>
                </a:solidFill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tr-TR" sz="1200" dirty="0" err="1">
                <a:solidFill>
                  <a:schemeClr val="tx1"/>
                </a:solidFill>
              </a:rPr>
              <a:t>Aynel</a:t>
            </a:r>
            <a:r>
              <a:rPr lang="tr-TR" sz="1200" dirty="0">
                <a:solidFill>
                  <a:schemeClr val="tx1"/>
                </a:solidFill>
              </a:rPr>
              <a:t> veya Lamel Fiilini Boğaz harflerinden birinin olması</a:t>
            </a:r>
            <a:endParaRPr lang="tr-TR" sz="1200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Çoğu Kere  </a:t>
            </a:r>
            <a:r>
              <a:rPr lang="tr-TR" dirty="0" err="1">
                <a:solidFill>
                  <a:schemeClr val="tx1"/>
                </a:solidFill>
              </a:rPr>
              <a:t>Müteaddi</a:t>
            </a:r>
            <a:r>
              <a:rPr lang="tr-TR" dirty="0">
                <a:solidFill>
                  <a:schemeClr val="tx1"/>
                </a:solidFill>
              </a:rPr>
              <a:t>, Bazen Lazım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فَعَلَ – يَفْعَلُ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فَتَحَ – يَفْتَحُ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0010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MÜCERRED </a:t>
            </a:r>
            <a:r>
              <a:rPr lang="ar-AE" dirty="0"/>
              <a:t>4</a:t>
            </a:r>
            <a:r>
              <a:rPr lang="tr-TR" dirty="0"/>
              <a:t>. BAB</a:t>
            </a:r>
            <a:endParaRPr lang="ar-AE" dirty="0"/>
          </a:p>
          <a:p>
            <a:pPr algn="ctr"/>
            <a:endParaRPr lang="tr-TR" dirty="0"/>
          </a:p>
          <a:p>
            <a:pPr algn="ctr"/>
            <a:r>
              <a:rPr lang="ar-AE" sz="3200" b="1" dirty="0"/>
              <a:t>فَعِلَ – يَفْعَلُ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93320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fiilinin mazide </a:t>
            </a:r>
            <a:r>
              <a:rPr lang="tr-TR" dirty="0" err="1">
                <a:solidFill>
                  <a:schemeClr val="tx1"/>
                </a:solidFill>
              </a:rPr>
              <a:t>esreli</a:t>
            </a:r>
            <a:r>
              <a:rPr lang="tr-TR" dirty="0">
                <a:solidFill>
                  <a:schemeClr val="tx1"/>
                </a:solidFill>
              </a:rPr>
              <a:t>, </a:t>
            </a:r>
            <a:r>
              <a:rPr lang="tr-TR" dirty="0" err="1">
                <a:solidFill>
                  <a:schemeClr val="tx1"/>
                </a:solidFill>
              </a:rPr>
              <a:t>muzari</a:t>
            </a:r>
            <a:r>
              <a:rPr lang="tr-TR" dirty="0">
                <a:solidFill>
                  <a:schemeClr val="tx1"/>
                </a:solidFill>
              </a:rPr>
              <a:t> de </a:t>
            </a:r>
            <a:r>
              <a:rPr lang="tr-TR" dirty="0" err="1">
                <a:solidFill>
                  <a:schemeClr val="tx1"/>
                </a:solidFill>
              </a:rPr>
              <a:t>üstünlü</a:t>
            </a:r>
            <a:r>
              <a:rPr lang="tr-TR" dirty="0">
                <a:solidFill>
                  <a:schemeClr val="tx1"/>
                </a:solidFill>
              </a:rPr>
              <a:t>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Çoğu Kere  </a:t>
            </a:r>
            <a:r>
              <a:rPr lang="tr-TR" dirty="0" err="1">
                <a:solidFill>
                  <a:schemeClr val="tx1"/>
                </a:solidFill>
              </a:rPr>
              <a:t>Müteaddi</a:t>
            </a:r>
            <a:r>
              <a:rPr lang="tr-TR" dirty="0">
                <a:solidFill>
                  <a:schemeClr val="tx1"/>
                </a:solidFill>
              </a:rPr>
              <a:t>, Bazen Lazım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فَعِلَ – يَفْعَلُ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عَلِمَ – يَعْلَمُ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2482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MÜCERRED </a:t>
            </a:r>
            <a:r>
              <a:rPr lang="ar-AE" dirty="0"/>
              <a:t>5</a:t>
            </a:r>
            <a:r>
              <a:rPr lang="tr-TR" dirty="0"/>
              <a:t>. BAB</a:t>
            </a:r>
            <a:endParaRPr lang="ar-AE" dirty="0"/>
          </a:p>
          <a:p>
            <a:pPr algn="ctr"/>
            <a:endParaRPr lang="tr-TR" dirty="0"/>
          </a:p>
          <a:p>
            <a:pPr algn="ctr"/>
            <a:r>
              <a:rPr lang="ar-AE" sz="3200" b="1" dirty="0"/>
              <a:t>فَعُلَ – يَفْعُلُ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93320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fiilinin mazide ve </a:t>
            </a:r>
            <a:r>
              <a:rPr lang="tr-TR" dirty="0" err="1">
                <a:solidFill>
                  <a:schemeClr val="tx1"/>
                </a:solidFill>
              </a:rPr>
              <a:t>muzari</a:t>
            </a:r>
            <a:r>
              <a:rPr lang="tr-TR" dirty="0">
                <a:solidFill>
                  <a:schemeClr val="tx1"/>
                </a:solidFill>
              </a:rPr>
              <a:t> de </a:t>
            </a:r>
            <a:r>
              <a:rPr lang="tr-TR" dirty="0" err="1">
                <a:solidFill>
                  <a:schemeClr val="tx1"/>
                </a:solidFill>
              </a:rPr>
              <a:t>ötreli</a:t>
            </a:r>
            <a:r>
              <a:rPr lang="tr-TR" dirty="0">
                <a:solidFill>
                  <a:schemeClr val="tx1"/>
                </a:solidFill>
              </a:rPr>
              <a:t>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Ancak Lazım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فَعُلَ – يَفْعُلُ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حَسُنَ – يَحْسُنُ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5104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MÜCERRED </a:t>
            </a:r>
            <a:r>
              <a:rPr lang="ar-AE" dirty="0"/>
              <a:t>6</a:t>
            </a:r>
            <a:r>
              <a:rPr lang="tr-TR" dirty="0"/>
              <a:t>. BAB</a:t>
            </a:r>
            <a:endParaRPr lang="ar-AE" dirty="0"/>
          </a:p>
          <a:p>
            <a:pPr algn="ctr"/>
            <a:endParaRPr lang="tr-TR" dirty="0"/>
          </a:p>
          <a:p>
            <a:pPr algn="ctr"/>
            <a:r>
              <a:rPr lang="ar-AE" sz="3200" b="1" dirty="0"/>
              <a:t>فَعِلَ – يَفْعِلُ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93320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fiilinin mazide ve </a:t>
            </a:r>
            <a:r>
              <a:rPr lang="tr-TR" dirty="0" err="1">
                <a:solidFill>
                  <a:schemeClr val="tx1"/>
                </a:solidFill>
              </a:rPr>
              <a:t>muzari</a:t>
            </a:r>
            <a:r>
              <a:rPr lang="tr-TR" dirty="0">
                <a:solidFill>
                  <a:schemeClr val="tx1"/>
                </a:solidFill>
              </a:rPr>
              <a:t> de </a:t>
            </a:r>
            <a:r>
              <a:rPr lang="tr-TR" dirty="0" err="1">
                <a:solidFill>
                  <a:schemeClr val="tx1"/>
                </a:solidFill>
              </a:rPr>
              <a:t>esreli</a:t>
            </a:r>
            <a:r>
              <a:rPr lang="tr-TR" dirty="0">
                <a:solidFill>
                  <a:schemeClr val="tx1"/>
                </a:solidFill>
              </a:rPr>
              <a:t>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Çoğu Kere  </a:t>
            </a:r>
            <a:r>
              <a:rPr lang="tr-TR" dirty="0" err="1">
                <a:solidFill>
                  <a:schemeClr val="tx1"/>
                </a:solidFill>
              </a:rPr>
              <a:t>Müteaddi</a:t>
            </a:r>
            <a:r>
              <a:rPr lang="tr-TR" dirty="0">
                <a:solidFill>
                  <a:schemeClr val="tx1"/>
                </a:solidFill>
              </a:rPr>
              <a:t>, Bazen Lazım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فَعِلَ – يَفْعِلُ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حَسِبَ – يَحْسِبُ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6174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şlık 1">
            <a:extLst>
              <a:ext uri="{FF2B5EF4-FFF2-40B4-BE49-F238E27FC236}">
                <a16:creationId xmlns:a16="http://schemas.microsoft.com/office/drawing/2014/main" id="{79C461CA-515D-7874-9B5A-72850FF6879B}"/>
              </a:ext>
            </a:extLst>
          </p:cNvPr>
          <p:cNvSpPr txBox="1">
            <a:spLocks/>
          </p:cNvSpPr>
          <p:nvPr/>
        </p:nvSpPr>
        <p:spPr>
          <a:xfrm>
            <a:off x="838200" y="176842"/>
            <a:ext cx="10515600" cy="1138686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680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tr-TR" dirty="0"/>
              <a:t>SÜLASİ MEZİD BABLAR</a:t>
            </a:r>
          </a:p>
        </p:txBody>
      </p:sp>
      <p:sp>
        <p:nvSpPr>
          <p:cNvPr id="6" name="Dikdörtgen 5">
            <a:extLst>
              <a:ext uri="{FF2B5EF4-FFF2-40B4-BE49-F238E27FC236}">
                <a16:creationId xmlns:a16="http://schemas.microsoft.com/office/drawing/2014/main" id="{8D3448AD-94A0-3A74-9D3B-88D3307B5360}"/>
              </a:ext>
            </a:extLst>
          </p:cNvPr>
          <p:cNvSpPr/>
          <p:nvPr/>
        </p:nvSpPr>
        <p:spPr>
          <a:xfrm>
            <a:off x="838200" y="1453011"/>
            <a:ext cx="10515600" cy="5228147"/>
          </a:xfrm>
          <a:prstGeom prst="rect">
            <a:avLst/>
          </a:prstGeom>
          <a:ln w="3175"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ar-AE" dirty="0"/>
              <a:t>ْ</a:t>
            </a:r>
            <a:endParaRPr lang="tr-TR" dirty="0"/>
          </a:p>
        </p:txBody>
      </p:sp>
      <p:sp>
        <p:nvSpPr>
          <p:cNvPr id="7" name="Dikdörtgen: Köşeleri Yuvarlatılmış 6">
            <a:extLst>
              <a:ext uri="{FF2B5EF4-FFF2-40B4-BE49-F238E27FC236}">
                <a16:creationId xmlns:a16="http://schemas.microsoft.com/office/drawing/2014/main" id="{D3F7568A-DE53-DD8C-F882-F95FDA144F97}"/>
              </a:ext>
            </a:extLst>
          </p:cNvPr>
          <p:cNvSpPr/>
          <p:nvPr/>
        </p:nvSpPr>
        <p:spPr>
          <a:xfrm>
            <a:off x="1476375" y="1548442"/>
            <a:ext cx="1676400" cy="419100"/>
          </a:xfrm>
          <a:prstGeom prst="roundRect">
            <a:avLst/>
          </a:prstGeom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1. NEVİ</a:t>
            </a:r>
          </a:p>
        </p:txBody>
      </p:sp>
      <p:sp>
        <p:nvSpPr>
          <p:cNvPr id="11" name="Dikdörtgen: Köşeleri Yuvarlatılmış 10">
            <a:extLst>
              <a:ext uri="{FF2B5EF4-FFF2-40B4-BE49-F238E27FC236}">
                <a16:creationId xmlns:a16="http://schemas.microsoft.com/office/drawing/2014/main" id="{911C4DAF-28FA-69D0-99B5-E01BA3B2A657}"/>
              </a:ext>
            </a:extLst>
          </p:cNvPr>
          <p:cNvSpPr/>
          <p:nvPr/>
        </p:nvSpPr>
        <p:spPr>
          <a:xfrm>
            <a:off x="5257800" y="1548442"/>
            <a:ext cx="1676400" cy="419100"/>
          </a:xfrm>
          <a:prstGeom prst="roundRect">
            <a:avLst/>
          </a:prstGeom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2. NEVİ</a:t>
            </a:r>
          </a:p>
        </p:txBody>
      </p:sp>
      <p:sp>
        <p:nvSpPr>
          <p:cNvPr id="12" name="Dikdörtgen: Köşeleri Yuvarlatılmış 11">
            <a:extLst>
              <a:ext uri="{FF2B5EF4-FFF2-40B4-BE49-F238E27FC236}">
                <a16:creationId xmlns:a16="http://schemas.microsoft.com/office/drawing/2014/main" id="{802E9B93-A881-CE24-F79E-AD2CB68C15AA}"/>
              </a:ext>
            </a:extLst>
          </p:cNvPr>
          <p:cNvSpPr/>
          <p:nvPr/>
        </p:nvSpPr>
        <p:spPr>
          <a:xfrm>
            <a:off x="9039227" y="1548442"/>
            <a:ext cx="1676400" cy="419100"/>
          </a:xfrm>
          <a:prstGeom prst="roundRect">
            <a:avLst/>
          </a:prstGeom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3.NEVİ</a:t>
            </a:r>
          </a:p>
        </p:txBody>
      </p:sp>
      <p:sp>
        <p:nvSpPr>
          <p:cNvPr id="14" name="Dikdörtgen: Köşeleri Yuvarlatılmış 13">
            <a:extLst>
              <a:ext uri="{FF2B5EF4-FFF2-40B4-BE49-F238E27FC236}">
                <a16:creationId xmlns:a16="http://schemas.microsoft.com/office/drawing/2014/main" id="{89603F0F-5AEF-4CE0-5C84-4A3E6DF6DA3C}"/>
              </a:ext>
            </a:extLst>
          </p:cNvPr>
          <p:cNvSpPr/>
          <p:nvPr/>
        </p:nvSpPr>
        <p:spPr>
          <a:xfrm>
            <a:off x="1631156" y="2987165"/>
            <a:ext cx="1366838" cy="50895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تَفْعِيلْ</a:t>
            </a:r>
            <a:endParaRPr lang="tr-TR" sz="2400" dirty="0"/>
          </a:p>
        </p:txBody>
      </p:sp>
      <p:sp>
        <p:nvSpPr>
          <p:cNvPr id="15" name="Dikdörtgen: Köşeleri Yuvarlatılmış 14">
            <a:extLst>
              <a:ext uri="{FF2B5EF4-FFF2-40B4-BE49-F238E27FC236}">
                <a16:creationId xmlns:a16="http://schemas.microsoft.com/office/drawing/2014/main" id="{63C62F5F-7013-7159-028C-65E521E78175}"/>
              </a:ext>
            </a:extLst>
          </p:cNvPr>
          <p:cNvSpPr/>
          <p:nvPr/>
        </p:nvSpPr>
        <p:spPr>
          <a:xfrm>
            <a:off x="1631156" y="3751456"/>
            <a:ext cx="1366838" cy="508958"/>
          </a:xfrm>
          <a:prstGeom prst="roundRect">
            <a:avLst>
              <a:gd name="adj" fmla="val 20410"/>
            </a:avLst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مُفَاعَلَة</a:t>
            </a:r>
            <a:endParaRPr lang="tr-TR" sz="2400" dirty="0"/>
          </a:p>
        </p:txBody>
      </p:sp>
      <p:sp>
        <p:nvSpPr>
          <p:cNvPr id="16" name="Dikdörtgen: Köşeleri Yuvarlatılmış 15">
            <a:extLst>
              <a:ext uri="{FF2B5EF4-FFF2-40B4-BE49-F238E27FC236}">
                <a16:creationId xmlns:a16="http://schemas.microsoft.com/office/drawing/2014/main" id="{2CB2E8E5-15EC-2EDF-6866-86E32EF64AC3}"/>
              </a:ext>
            </a:extLst>
          </p:cNvPr>
          <p:cNvSpPr/>
          <p:nvPr/>
        </p:nvSpPr>
        <p:spPr>
          <a:xfrm>
            <a:off x="1631156" y="2222874"/>
            <a:ext cx="1366838" cy="50895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اِفْعَل</a:t>
            </a:r>
            <a:endParaRPr lang="tr-TR" sz="2400" dirty="0"/>
          </a:p>
        </p:txBody>
      </p:sp>
      <p:sp>
        <p:nvSpPr>
          <p:cNvPr id="17" name="Dikdörtgen: Köşeleri Yuvarlatılmış 16">
            <a:extLst>
              <a:ext uri="{FF2B5EF4-FFF2-40B4-BE49-F238E27FC236}">
                <a16:creationId xmlns:a16="http://schemas.microsoft.com/office/drawing/2014/main" id="{9D40AE0F-A4D4-65EC-F4EE-D2DE255EF36C}"/>
              </a:ext>
            </a:extLst>
          </p:cNvPr>
          <p:cNvSpPr/>
          <p:nvPr/>
        </p:nvSpPr>
        <p:spPr>
          <a:xfrm>
            <a:off x="5412581" y="2987165"/>
            <a:ext cx="1366838" cy="50895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اِفْتِعَالْ</a:t>
            </a:r>
            <a:endParaRPr lang="tr-TR" sz="2400" dirty="0"/>
          </a:p>
        </p:txBody>
      </p:sp>
      <p:sp>
        <p:nvSpPr>
          <p:cNvPr id="18" name="Dikdörtgen: Köşeleri Yuvarlatılmış 17">
            <a:extLst>
              <a:ext uri="{FF2B5EF4-FFF2-40B4-BE49-F238E27FC236}">
                <a16:creationId xmlns:a16="http://schemas.microsoft.com/office/drawing/2014/main" id="{91754700-9D1A-529A-56D8-C17F06C956B6}"/>
              </a:ext>
            </a:extLst>
          </p:cNvPr>
          <p:cNvSpPr/>
          <p:nvPr/>
        </p:nvSpPr>
        <p:spPr>
          <a:xfrm>
            <a:off x="5412581" y="3751456"/>
            <a:ext cx="1366838" cy="508958"/>
          </a:xfrm>
          <a:prstGeom prst="roundRect">
            <a:avLst>
              <a:gd name="adj" fmla="val 20410"/>
            </a:avLst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اِفعِلَالْ</a:t>
            </a:r>
            <a:endParaRPr lang="tr-TR" sz="2400" dirty="0"/>
          </a:p>
        </p:txBody>
      </p:sp>
      <p:sp>
        <p:nvSpPr>
          <p:cNvPr id="19" name="Dikdörtgen: Köşeleri Yuvarlatılmış 18">
            <a:extLst>
              <a:ext uri="{FF2B5EF4-FFF2-40B4-BE49-F238E27FC236}">
                <a16:creationId xmlns:a16="http://schemas.microsoft.com/office/drawing/2014/main" id="{3B0329CD-12E6-CC2A-7383-FBD66BAAA47A}"/>
              </a:ext>
            </a:extLst>
          </p:cNvPr>
          <p:cNvSpPr/>
          <p:nvPr/>
        </p:nvSpPr>
        <p:spPr>
          <a:xfrm>
            <a:off x="5412581" y="2222874"/>
            <a:ext cx="1366838" cy="50895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اِنْفِعَالْ</a:t>
            </a:r>
            <a:endParaRPr lang="tr-TR" sz="2400" dirty="0"/>
          </a:p>
        </p:txBody>
      </p:sp>
      <p:sp>
        <p:nvSpPr>
          <p:cNvPr id="20" name="Dikdörtgen: Köşeleri Yuvarlatılmış 19">
            <a:extLst>
              <a:ext uri="{FF2B5EF4-FFF2-40B4-BE49-F238E27FC236}">
                <a16:creationId xmlns:a16="http://schemas.microsoft.com/office/drawing/2014/main" id="{995BF2A5-2130-4A73-4B40-6B29A8E98E77}"/>
              </a:ext>
            </a:extLst>
          </p:cNvPr>
          <p:cNvSpPr/>
          <p:nvPr/>
        </p:nvSpPr>
        <p:spPr>
          <a:xfrm>
            <a:off x="5412581" y="4515747"/>
            <a:ext cx="1366838" cy="50895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تَفَعُّل</a:t>
            </a:r>
            <a:endParaRPr lang="tr-TR" sz="2400" dirty="0"/>
          </a:p>
        </p:txBody>
      </p:sp>
      <p:sp>
        <p:nvSpPr>
          <p:cNvPr id="21" name="Dikdörtgen: Köşeleri Yuvarlatılmış 20">
            <a:extLst>
              <a:ext uri="{FF2B5EF4-FFF2-40B4-BE49-F238E27FC236}">
                <a16:creationId xmlns:a16="http://schemas.microsoft.com/office/drawing/2014/main" id="{7835F49D-2F29-D1FA-B8E1-DC7790666D8B}"/>
              </a:ext>
            </a:extLst>
          </p:cNvPr>
          <p:cNvSpPr/>
          <p:nvPr/>
        </p:nvSpPr>
        <p:spPr>
          <a:xfrm>
            <a:off x="5412581" y="5280038"/>
            <a:ext cx="1366838" cy="50895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تَفَاعُلْ</a:t>
            </a:r>
            <a:endParaRPr lang="tr-TR" sz="2400" dirty="0"/>
          </a:p>
        </p:txBody>
      </p:sp>
      <p:sp>
        <p:nvSpPr>
          <p:cNvPr id="2" name="Dikdörtgen: Köşeleri Yuvarlatılmış 1">
            <a:extLst>
              <a:ext uri="{FF2B5EF4-FFF2-40B4-BE49-F238E27FC236}">
                <a16:creationId xmlns:a16="http://schemas.microsoft.com/office/drawing/2014/main" id="{3B295E69-6286-6485-1F65-DC910A5E7DBA}"/>
              </a:ext>
            </a:extLst>
          </p:cNvPr>
          <p:cNvSpPr/>
          <p:nvPr/>
        </p:nvSpPr>
        <p:spPr>
          <a:xfrm>
            <a:off x="9348789" y="2987165"/>
            <a:ext cx="1366838" cy="50895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اِفْعِيعَالْ</a:t>
            </a:r>
            <a:endParaRPr lang="tr-TR" sz="2400" dirty="0"/>
          </a:p>
        </p:txBody>
      </p:sp>
      <p:sp>
        <p:nvSpPr>
          <p:cNvPr id="3" name="Dikdörtgen: Köşeleri Yuvarlatılmış 2">
            <a:extLst>
              <a:ext uri="{FF2B5EF4-FFF2-40B4-BE49-F238E27FC236}">
                <a16:creationId xmlns:a16="http://schemas.microsoft.com/office/drawing/2014/main" id="{020B9EB4-B12B-15D2-2CDE-2C26A576A8A8}"/>
              </a:ext>
            </a:extLst>
          </p:cNvPr>
          <p:cNvSpPr/>
          <p:nvPr/>
        </p:nvSpPr>
        <p:spPr>
          <a:xfrm>
            <a:off x="9348789" y="3751456"/>
            <a:ext cx="1366838" cy="508958"/>
          </a:xfrm>
          <a:prstGeom prst="roundRect">
            <a:avLst>
              <a:gd name="adj" fmla="val 20410"/>
            </a:avLst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اِفْعِوَّالْ</a:t>
            </a:r>
            <a:endParaRPr lang="tr-TR" sz="2400" dirty="0"/>
          </a:p>
        </p:txBody>
      </p:sp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A9D5BA4E-799C-9C1F-2433-093781773619}"/>
              </a:ext>
            </a:extLst>
          </p:cNvPr>
          <p:cNvSpPr/>
          <p:nvPr/>
        </p:nvSpPr>
        <p:spPr>
          <a:xfrm>
            <a:off x="9348789" y="2222874"/>
            <a:ext cx="1366838" cy="50895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اِسْتِفْعَالْ</a:t>
            </a:r>
            <a:endParaRPr lang="tr-TR" sz="2400" dirty="0"/>
          </a:p>
        </p:txBody>
      </p:sp>
      <p:sp>
        <p:nvSpPr>
          <p:cNvPr id="8" name="Dikdörtgen: Köşeleri Yuvarlatılmış 7">
            <a:extLst>
              <a:ext uri="{FF2B5EF4-FFF2-40B4-BE49-F238E27FC236}">
                <a16:creationId xmlns:a16="http://schemas.microsoft.com/office/drawing/2014/main" id="{F1445398-DE76-9901-EBD8-78A2074808A7}"/>
              </a:ext>
            </a:extLst>
          </p:cNvPr>
          <p:cNvSpPr/>
          <p:nvPr/>
        </p:nvSpPr>
        <p:spPr>
          <a:xfrm>
            <a:off x="9348789" y="4515747"/>
            <a:ext cx="1366838" cy="50895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 w="31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AE" sz="2400" dirty="0"/>
              <a:t>اِفْعِيلَالْ</a:t>
            </a:r>
            <a:endParaRPr lang="tr-TR" sz="2400" dirty="0"/>
          </a:p>
        </p:txBody>
      </p:sp>
    </p:spTree>
    <p:extLst>
      <p:ext uri="{BB962C8B-B14F-4D97-AF65-F5344CB8AC3E}">
        <p14:creationId xmlns:p14="http://schemas.microsoft.com/office/powerpoint/2010/main" val="2392851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MEZİD 1. NEVİ</a:t>
            </a:r>
          </a:p>
          <a:p>
            <a:pPr algn="ctr"/>
            <a:r>
              <a:rPr lang="tr-TR" dirty="0"/>
              <a:t>1. BAB</a:t>
            </a:r>
          </a:p>
          <a:p>
            <a:pPr algn="ctr"/>
            <a:r>
              <a:rPr lang="ar-AE" sz="3200" b="1" dirty="0"/>
              <a:t>اِفْعَل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93319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>
                <a:solidFill>
                  <a:schemeClr val="tx1"/>
                </a:solidFill>
              </a:rPr>
              <a:t>Evveline hemze ziyadesi ile mazisinin 4 harf üzere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Çoğu Kere  </a:t>
            </a:r>
            <a:r>
              <a:rPr lang="tr-TR" dirty="0" err="1">
                <a:solidFill>
                  <a:schemeClr val="tx1"/>
                </a:solidFill>
              </a:rPr>
              <a:t>Müteaddi</a:t>
            </a:r>
            <a:r>
              <a:rPr lang="tr-TR" dirty="0">
                <a:solidFill>
                  <a:schemeClr val="tx1"/>
                </a:solidFill>
              </a:rPr>
              <a:t>, Bazen Lazım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اِفْعَلَ – يُفْعِلُ - اِفْعَالًا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822025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اَكْرَمَ – يُكْرِمُ - اِكْرَامًا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İkizkenar Üçgen 1">
            <a:extLst>
              <a:ext uri="{FF2B5EF4-FFF2-40B4-BE49-F238E27FC236}">
                <a16:creationId xmlns:a16="http://schemas.microsoft.com/office/drawing/2014/main" id="{F761A71F-29CB-9CF0-1D02-9D53577DA23F}"/>
              </a:ext>
            </a:extLst>
          </p:cNvPr>
          <p:cNvSpPr/>
          <p:nvPr/>
        </p:nvSpPr>
        <p:spPr>
          <a:xfrm rot="18876393">
            <a:off x="-810273" y="-176755"/>
            <a:ext cx="2538637" cy="1259992"/>
          </a:xfrm>
          <a:prstGeom prst="triangle">
            <a:avLst/>
          </a:prstGeom>
          <a:solidFill>
            <a:srgbClr val="FFC00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r-TR" sz="2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1. NEVİ</a:t>
            </a:r>
          </a:p>
        </p:txBody>
      </p:sp>
    </p:spTree>
    <p:extLst>
      <p:ext uri="{BB962C8B-B14F-4D97-AF65-F5344CB8AC3E}">
        <p14:creationId xmlns:p14="http://schemas.microsoft.com/office/powerpoint/2010/main" val="2702794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MEZİD 1. NEVİ</a:t>
            </a:r>
          </a:p>
          <a:p>
            <a:pPr algn="ctr"/>
            <a:r>
              <a:rPr lang="tr-TR" dirty="0"/>
              <a:t>2. BAB</a:t>
            </a:r>
          </a:p>
          <a:p>
            <a:pPr algn="ctr"/>
            <a:r>
              <a:rPr lang="ar-AE" sz="3200" b="1" dirty="0"/>
              <a:t>تَفْعِيلْ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080655"/>
            <a:ext cx="3709359" cy="1233919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 err="1">
                <a:solidFill>
                  <a:schemeClr val="tx1"/>
                </a:solidFill>
              </a:rPr>
              <a:t>Fael</a:t>
            </a:r>
            <a:r>
              <a:rPr lang="tr-TR" dirty="0">
                <a:solidFill>
                  <a:schemeClr val="tx1"/>
                </a:solidFill>
              </a:rPr>
              <a:t> fiili ile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 arasına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 cinsinden bir harf ziyadesi ile mazisinin 4 harf üzere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Teksir (Çokluk) İçindir.</a:t>
            </a:r>
          </a:p>
          <a:p>
            <a:r>
              <a:rPr lang="tr-TR" dirty="0">
                <a:solidFill>
                  <a:schemeClr val="tx1"/>
                </a:solidFill>
              </a:rPr>
              <a:t>Fiil veya Fail  veya Meful de bulunabilir.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فَعَّلَ – يُفَعِّلُ - تَفْعِيلًا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822025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فَرَّحَ – يُفَرِّحُ - تَفْرِيحًا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İkizkenar Üçgen 1">
            <a:extLst>
              <a:ext uri="{FF2B5EF4-FFF2-40B4-BE49-F238E27FC236}">
                <a16:creationId xmlns:a16="http://schemas.microsoft.com/office/drawing/2014/main" id="{B2BAFADC-F4D7-1E24-FACD-44F09F60A8DC}"/>
              </a:ext>
            </a:extLst>
          </p:cNvPr>
          <p:cNvSpPr/>
          <p:nvPr/>
        </p:nvSpPr>
        <p:spPr>
          <a:xfrm rot="18876393">
            <a:off x="-819269" y="-172992"/>
            <a:ext cx="2549208" cy="1259992"/>
          </a:xfrm>
          <a:prstGeom prst="triangle">
            <a:avLst>
              <a:gd name="adj" fmla="val 50270"/>
            </a:avLst>
          </a:prstGeom>
          <a:solidFill>
            <a:srgbClr val="FFC00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r-TR" sz="2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1. NEVİ</a:t>
            </a:r>
          </a:p>
        </p:txBody>
      </p:sp>
    </p:spTree>
    <p:extLst>
      <p:ext uri="{BB962C8B-B14F-4D97-AF65-F5344CB8AC3E}">
        <p14:creationId xmlns:p14="http://schemas.microsoft.com/office/powerpoint/2010/main" val="35106194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MEZİD 1. NEVİ</a:t>
            </a:r>
          </a:p>
          <a:p>
            <a:pPr algn="ctr"/>
            <a:r>
              <a:rPr lang="tr-TR" dirty="0"/>
              <a:t>3. BAB</a:t>
            </a:r>
            <a:endParaRPr lang="ar-AE" dirty="0"/>
          </a:p>
          <a:p>
            <a:pPr algn="ctr"/>
            <a:endParaRPr lang="tr-TR" dirty="0"/>
          </a:p>
          <a:p>
            <a:pPr algn="ctr"/>
            <a:r>
              <a:rPr lang="ar-AE" sz="3200" b="1" dirty="0"/>
              <a:t>مُفَاعَلَة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080655"/>
            <a:ext cx="3709359" cy="1233919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 err="1">
                <a:solidFill>
                  <a:schemeClr val="tx1"/>
                </a:solidFill>
              </a:rPr>
              <a:t>Fael</a:t>
            </a:r>
            <a:r>
              <a:rPr lang="tr-TR" dirty="0">
                <a:solidFill>
                  <a:schemeClr val="tx1"/>
                </a:solidFill>
              </a:rPr>
              <a:t> fiili ile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 arasına Elif(</a:t>
            </a:r>
            <a:r>
              <a:rPr lang="ar-AE" dirty="0">
                <a:solidFill>
                  <a:schemeClr val="tx1"/>
                </a:solidFill>
              </a:rPr>
              <a:t>ا</a:t>
            </a:r>
            <a:r>
              <a:rPr lang="tr-TR" dirty="0">
                <a:solidFill>
                  <a:schemeClr val="tx1"/>
                </a:solidFill>
              </a:rPr>
              <a:t>) harfi ziyadesi ile mazisinin 4 harf üzere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İki kişi arasında müşareket içindir. Bazen 1 kişi için olur.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0" y="2660554"/>
            <a:ext cx="3887835" cy="2036137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فَاعَلَ – يُفَاعِلُ - مُفَاعَلةً</a:t>
            </a:r>
          </a:p>
          <a:p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وَفِعَالًا	</a:t>
            </a:r>
          </a:p>
          <a:p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وَفِيعَالًا</a:t>
            </a:r>
          </a:p>
          <a:p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İkizkenar Üçgen 1">
            <a:extLst>
              <a:ext uri="{FF2B5EF4-FFF2-40B4-BE49-F238E27FC236}">
                <a16:creationId xmlns:a16="http://schemas.microsoft.com/office/drawing/2014/main" id="{4E134ADB-7908-A9FF-5CE0-9B05BB295681}"/>
              </a:ext>
            </a:extLst>
          </p:cNvPr>
          <p:cNvSpPr/>
          <p:nvPr/>
        </p:nvSpPr>
        <p:spPr>
          <a:xfrm rot="18876393">
            <a:off x="-824444" y="-170828"/>
            <a:ext cx="2555288" cy="1259992"/>
          </a:xfrm>
          <a:prstGeom prst="triangle">
            <a:avLst>
              <a:gd name="adj" fmla="val 50457"/>
            </a:avLst>
          </a:prstGeom>
          <a:solidFill>
            <a:srgbClr val="FFC00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r-TR" sz="2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1. NEVİ</a:t>
            </a:r>
          </a:p>
        </p:txBody>
      </p:sp>
      <p:sp>
        <p:nvSpPr>
          <p:cNvPr id="3" name="Dikdörtgen: Üst Köşeleri Yuvarlatılmış 2">
            <a:extLst>
              <a:ext uri="{FF2B5EF4-FFF2-40B4-BE49-F238E27FC236}">
                <a16:creationId xmlns:a16="http://schemas.microsoft.com/office/drawing/2014/main" id="{16556FBF-2049-6A2C-26B7-A2557790BAD6}"/>
              </a:ext>
            </a:extLst>
          </p:cNvPr>
          <p:cNvSpPr/>
          <p:nvPr/>
        </p:nvSpPr>
        <p:spPr>
          <a:xfrm>
            <a:off x="4152081" y="4593784"/>
            <a:ext cx="3887835" cy="2097962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قَاتَلَ – يُقَاتِلُ - مُقَاتَلَةََ</a:t>
            </a:r>
          </a:p>
          <a:p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وَقِتَالًا   		</a:t>
            </a:r>
          </a:p>
          <a:p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وَقِيتَالًا   </a:t>
            </a:r>
          </a:p>
          <a:p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	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4713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MEZİD </a:t>
            </a:r>
            <a:r>
              <a:rPr lang="ar-AE" dirty="0"/>
              <a:t>2</a:t>
            </a:r>
            <a:r>
              <a:rPr lang="tr-TR" dirty="0"/>
              <a:t>. NEVİ</a:t>
            </a:r>
          </a:p>
          <a:p>
            <a:pPr algn="ctr"/>
            <a:r>
              <a:rPr lang="ar-AE" dirty="0"/>
              <a:t>1</a:t>
            </a:r>
            <a:r>
              <a:rPr lang="tr-TR" dirty="0"/>
              <a:t>. BAB</a:t>
            </a:r>
          </a:p>
          <a:p>
            <a:pPr algn="ctr"/>
            <a:r>
              <a:rPr lang="ar-AE" sz="3200" b="1" dirty="0"/>
              <a:t>اِنْفِعَالْ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93319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>
                <a:solidFill>
                  <a:schemeClr val="tx1"/>
                </a:solidFill>
              </a:rPr>
              <a:t>Evveline hemze(</a:t>
            </a:r>
            <a:r>
              <a:rPr lang="ar-AE" dirty="0">
                <a:solidFill>
                  <a:schemeClr val="tx1"/>
                </a:solidFill>
              </a:rPr>
              <a:t>ا</a:t>
            </a:r>
            <a:r>
              <a:rPr lang="tr-TR" dirty="0">
                <a:solidFill>
                  <a:schemeClr val="tx1"/>
                </a:solidFill>
              </a:rPr>
              <a:t>) ve </a:t>
            </a:r>
            <a:r>
              <a:rPr lang="tr-TR" dirty="0" err="1">
                <a:solidFill>
                  <a:schemeClr val="tx1"/>
                </a:solidFill>
              </a:rPr>
              <a:t>Nun</a:t>
            </a:r>
            <a:r>
              <a:rPr lang="tr-TR" dirty="0">
                <a:solidFill>
                  <a:schemeClr val="tx1"/>
                </a:solidFill>
              </a:rPr>
              <a:t>(</a:t>
            </a:r>
            <a:r>
              <a:rPr lang="ar-AE" dirty="0">
                <a:solidFill>
                  <a:schemeClr val="tx1"/>
                </a:solidFill>
              </a:rPr>
              <a:t>ن</a:t>
            </a:r>
            <a:r>
              <a:rPr lang="tr-TR" dirty="0">
                <a:solidFill>
                  <a:schemeClr val="tx1"/>
                </a:solidFill>
              </a:rPr>
              <a:t>) harfleri ziyadesi ile mazisinin 5 harf üzere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Mutavaat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اِنْفَعَلَ – يَنْفَعِلُ - اِنْفِعَالًا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131426" y="4543425"/>
            <a:ext cx="3931920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اِنْكَسَرَ– يَنْكَسِرُ- اِنْكِسَارًا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İkizkenar Üçgen 1">
            <a:extLst>
              <a:ext uri="{FF2B5EF4-FFF2-40B4-BE49-F238E27FC236}">
                <a16:creationId xmlns:a16="http://schemas.microsoft.com/office/drawing/2014/main" id="{F761A71F-29CB-9CF0-1D02-9D53577DA23F}"/>
              </a:ext>
            </a:extLst>
          </p:cNvPr>
          <p:cNvSpPr/>
          <p:nvPr/>
        </p:nvSpPr>
        <p:spPr>
          <a:xfrm rot="18876393">
            <a:off x="-810273" y="-176755"/>
            <a:ext cx="2538637" cy="1259992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ar-AE" sz="2400" b="1" dirty="0">
                <a:solidFill>
                  <a:schemeClr val="bg1"/>
                </a:solidFill>
              </a:rPr>
              <a:t>2</a:t>
            </a:r>
            <a:r>
              <a:rPr lang="tr-TR" sz="2400" b="1" dirty="0">
                <a:solidFill>
                  <a:schemeClr val="bg1"/>
                </a:solidFill>
              </a:rPr>
              <a:t>. NEVİ</a:t>
            </a:r>
          </a:p>
        </p:txBody>
      </p:sp>
    </p:spTree>
    <p:extLst>
      <p:ext uri="{BB962C8B-B14F-4D97-AF65-F5344CB8AC3E}">
        <p14:creationId xmlns:p14="http://schemas.microsoft.com/office/powerpoint/2010/main" val="867089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MEZİD </a:t>
            </a:r>
            <a:r>
              <a:rPr lang="ar-AE" dirty="0"/>
              <a:t>2</a:t>
            </a:r>
            <a:r>
              <a:rPr lang="tr-TR" dirty="0"/>
              <a:t>. NEVİ</a:t>
            </a:r>
          </a:p>
          <a:p>
            <a:pPr algn="ctr"/>
            <a:r>
              <a:rPr lang="ar-AE" dirty="0"/>
              <a:t>2</a:t>
            </a:r>
            <a:r>
              <a:rPr lang="tr-TR" dirty="0"/>
              <a:t>. BAB</a:t>
            </a:r>
          </a:p>
          <a:p>
            <a:pPr algn="ctr"/>
            <a:r>
              <a:rPr lang="ar-AE" sz="3200" b="1" dirty="0"/>
              <a:t>اِفْتِعَالْ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13905"/>
            <a:ext cx="3709359" cy="1200670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>
                <a:solidFill>
                  <a:schemeClr val="tx1"/>
                </a:solidFill>
              </a:rPr>
              <a:t>Evveline hemze(</a:t>
            </a:r>
            <a:r>
              <a:rPr lang="ar-AE" dirty="0">
                <a:solidFill>
                  <a:schemeClr val="tx1"/>
                </a:solidFill>
              </a:rPr>
              <a:t>ا</a:t>
            </a:r>
            <a:r>
              <a:rPr lang="tr-TR" dirty="0">
                <a:solidFill>
                  <a:schemeClr val="tx1"/>
                </a:solidFill>
              </a:rPr>
              <a:t>) </a:t>
            </a:r>
            <a:r>
              <a:rPr lang="tr-TR" dirty="0" err="1">
                <a:solidFill>
                  <a:schemeClr val="tx1"/>
                </a:solidFill>
              </a:rPr>
              <a:t>fael</a:t>
            </a:r>
            <a:r>
              <a:rPr lang="tr-TR" dirty="0">
                <a:solidFill>
                  <a:schemeClr val="tx1"/>
                </a:solidFill>
              </a:rPr>
              <a:t> fiili ile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 arasına Te(</a:t>
            </a:r>
            <a:r>
              <a:rPr lang="ar-AE" dirty="0">
                <a:solidFill>
                  <a:schemeClr val="tx1"/>
                </a:solidFill>
              </a:rPr>
              <a:t>ت</a:t>
            </a:r>
            <a:r>
              <a:rPr lang="tr-TR" dirty="0">
                <a:solidFill>
                  <a:schemeClr val="tx1"/>
                </a:solidFill>
              </a:rPr>
              <a:t>) harfleri ziyadesi ile mazisinin </a:t>
            </a:r>
            <a:r>
              <a:rPr lang="ar-AE" dirty="0">
                <a:solidFill>
                  <a:schemeClr val="tx1"/>
                </a:solidFill>
              </a:rPr>
              <a:t>5</a:t>
            </a:r>
            <a:r>
              <a:rPr lang="tr-TR" dirty="0">
                <a:solidFill>
                  <a:schemeClr val="tx1"/>
                </a:solidFill>
              </a:rPr>
              <a:t> harf üzere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Mutavaat içindir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اِفْتَعَلَ – يَفْتَعِلُ - اِفْتِعَالًا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031673" y="4543425"/>
            <a:ext cx="4210148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اِجْتَمَعَ – يَجْتَمِعُ - اِجْتِمَاعًا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İkizkenar Üçgen 1">
            <a:extLst>
              <a:ext uri="{FF2B5EF4-FFF2-40B4-BE49-F238E27FC236}">
                <a16:creationId xmlns:a16="http://schemas.microsoft.com/office/drawing/2014/main" id="{F761A71F-29CB-9CF0-1D02-9D53577DA23F}"/>
              </a:ext>
            </a:extLst>
          </p:cNvPr>
          <p:cNvSpPr/>
          <p:nvPr/>
        </p:nvSpPr>
        <p:spPr>
          <a:xfrm rot="18876393">
            <a:off x="-810273" y="-176755"/>
            <a:ext cx="2538637" cy="1259992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ar-AE" sz="2400" b="1" dirty="0">
                <a:solidFill>
                  <a:schemeClr val="bg1"/>
                </a:solidFill>
              </a:rPr>
              <a:t>2</a:t>
            </a:r>
            <a:r>
              <a:rPr lang="tr-TR" sz="2400" b="1" dirty="0">
                <a:solidFill>
                  <a:schemeClr val="bg1"/>
                </a:solidFill>
              </a:rPr>
              <a:t>. NEVİ</a:t>
            </a:r>
          </a:p>
        </p:txBody>
      </p:sp>
    </p:spTree>
    <p:extLst>
      <p:ext uri="{BB962C8B-B14F-4D97-AF65-F5344CB8AC3E}">
        <p14:creationId xmlns:p14="http://schemas.microsoft.com/office/powerpoint/2010/main" val="21558166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MEZİD </a:t>
            </a:r>
            <a:r>
              <a:rPr lang="ar-AE" dirty="0"/>
              <a:t>2</a:t>
            </a:r>
            <a:r>
              <a:rPr lang="tr-TR" dirty="0"/>
              <a:t>. NEVİ</a:t>
            </a:r>
          </a:p>
          <a:p>
            <a:pPr algn="ctr"/>
            <a:r>
              <a:rPr lang="ar-AE" dirty="0"/>
              <a:t>3</a:t>
            </a:r>
            <a:r>
              <a:rPr lang="tr-TR" dirty="0"/>
              <a:t>. BAB</a:t>
            </a:r>
          </a:p>
          <a:p>
            <a:pPr algn="ctr"/>
            <a:r>
              <a:rPr lang="ar-AE" sz="3200" b="1" dirty="0"/>
              <a:t>اِفعِلَالْ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105593"/>
            <a:ext cx="3709359" cy="1208981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>
                <a:solidFill>
                  <a:schemeClr val="tx1"/>
                </a:solidFill>
              </a:rPr>
              <a:t>Evveline hemze(</a:t>
            </a:r>
            <a:r>
              <a:rPr lang="ar-AE" dirty="0">
                <a:solidFill>
                  <a:schemeClr val="tx1"/>
                </a:solidFill>
              </a:rPr>
              <a:t>ا</a:t>
            </a:r>
            <a:r>
              <a:rPr lang="tr-TR" dirty="0">
                <a:solidFill>
                  <a:schemeClr val="tx1"/>
                </a:solidFill>
              </a:rPr>
              <a:t>)</a:t>
            </a:r>
            <a:r>
              <a:rPr lang="ar-AE" dirty="0">
                <a:solidFill>
                  <a:schemeClr val="tx1"/>
                </a:solidFill>
              </a:rPr>
              <a:t>  </a:t>
            </a:r>
            <a:r>
              <a:rPr lang="tr-TR" dirty="0">
                <a:solidFill>
                  <a:schemeClr val="tx1"/>
                </a:solidFill>
              </a:rPr>
              <a:t> sonuna lamel fiili cinsinden bir harf  ziyadesi ile mazisinin 4 harf üzere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Lazımın mübalağası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241821" y="2868371"/>
            <a:ext cx="3709359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اِفْعَلَّ – يَفْعَلُّ - اِفْعِلَالًا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095748" y="4543425"/>
            <a:ext cx="4000501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اِحْمَرَّ – يَحْمَرُّ - اِحْمِرَارًا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İkizkenar Üçgen 1">
            <a:extLst>
              <a:ext uri="{FF2B5EF4-FFF2-40B4-BE49-F238E27FC236}">
                <a16:creationId xmlns:a16="http://schemas.microsoft.com/office/drawing/2014/main" id="{F761A71F-29CB-9CF0-1D02-9D53577DA23F}"/>
              </a:ext>
            </a:extLst>
          </p:cNvPr>
          <p:cNvSpPr/>
          <p:nvPr/>
        </p:nvSpPr>
        <p:spPr>
          <a:xfrm rot="18876393">
            <a:off x="-810273" y="-176755"/>
            <a:ext cx="2538637" cy="1259992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ar-AE" sz="2400" b="1" dirty="0">
                <a:solidFill>
                  <a:schemeClr val="bg1"/>
                </a:solidFill>
              </a:rPr>
              <a:t>2</a:t>
            </a:r>
            <a:r>
              <a:rPr lang="tr-TR" sz="2400" b="1" dirty="0">
                <a:solidFill>
                  <a:schemeClr val="bg1"/>
                </a:solidFill>
              </a:rPr>
              <a:t>. NEVİ</a:t>
            </a:r>
          </a:p>
        </p:txBody>
      </p:sp>
    </p:spTree>
    <p:extLst>
      <p:ext uri="{BB962C8B-B14F-4D97-AF65-F5344CB8AC3E}">
        <p14:creationId xmlns:p14="http://schemas.microsoft.com/office/powerpoint/2010/main" val="16717297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MEZİD </a:t>
            </a:r>
            <a:r>
              <a:rPr lang="ar-AE" dirty="0"/>
              <a:t>2</a:t>
            </a:r>
            <a:r>
              <a:rPr lang="tr-TR" dirty="0"/>
              <a:t>. NEVİ</a:t>
            </a:r>
          </a:p>
          <a:p>
            <a:pPr algn="ctr"/>
            <a:r>
              <a:rPr lang="ar-AE" dirty="0"/>
              <a:t>4</a:t>
            </a:r>
            <a:r>
              <a:rPr lang="tr-TR" dirty="0"/>
              <a:t>. BAB</a:t>
            </a:r>
          </a:p>
          <a:p>
            <a:pPr algn="ctr"/>
            <a:r>
              <a:rPr lang="tr-TR" sz="3200" b="1" dirty="0"/>
              <a:t>  </a:t>
            </a:r>
            <a:r>
              <a:rPr lang="ar-AE" sz="3200" dirty="0"/>
              <a:t> </a:t>
            </a:r>
            <a:r>
              <a:rPr lang="ar-AE" sz="3200" b="1" dirty="0"/>
              <a:t>تَفَعُّل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014153"/>
            <a:ext cx="3709359" cy="1300421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>
                <a:solidFill>
                  <a:schemeClr val="tx1"/>
                </a:solidFill>
              </a:rPr>
              <a:t>Evveline Te(</a:t>
            </a:r>
            <a:r>
              <a:rPr lang="ar-AE" dirty="0">
                <a:solidFill>
                  <a:schemeClr val="tx1"/>
                </a:solidFill>
              </a:rPr>
              <a:t>ت</a:t>
            </a:r>
            <a:r>
              <a:rPr lang="tr-TR" dirty="0">
                <a:solidFill>
                  <a:schemeClr val="tx1"/>
                </a:solidFill>
              </a:rPr>
              <a:t>)</a:t>
            </a:r>
            <a:r>
              <a:rPr lang="ar-AE" dirty="0">
                <a:solidFill>
                  <a:schemeClr val="tx1"/>
                </a:solidFill>
              </a:rPr>
              <a:t>  </a:t>
            </a:r>
            <a:r>
              <a:rPr lang="tr-TR" dirty="0">
                <a:solidFill>
                  <a:schemeClr val="tx1"/>
                </a:solidFill>
              </a:rPr>
              <a:t> </a:t>
            </a:r>
            <a:r>
              <a:rPr lang="tr-TR" dirty="0" err="1">
                <a:solidFill>
                  <a:schemeClr val="tx1"/>
                </a:solidFill>
              </a:rPr>
              <a:t>fael</a:t>
            </a:r>
            <a:r>
              <a:rPr lang="tr-TR" dirty="0">
                <a:solidFill>
                  <a:schemeClr val="tx1"/>
                </a:solidFill>
              </a:rPr>
              <a:t> fiili ile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 arasına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 cinsinden harfler ziyadesi ile mazisinin 5 harf üzere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Tekellüf içindir(Talep edilen bir şeyin derece </a:t>
            </a:r>
            <a:r>
              <a:rPr lang="tr-TR" dirty="0" err="1">
                <a:solidFill>
                  <a:schemeClr val="tx1"/>
                </a:solidFill>
              </a:rPr>
              <a:t>derece</a:t>
            </a:r>
            <a:r>
              <a:rPr lang="tr-TR" dirty="0">
                <a:solidFill>
                  <a:schemeClr val="tx1"/>
                </a:solidFill>
              </a:rPr>
              <a:t> elde edilmesidir.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063345" y="2868371"/>
            <a:ext cx="3887835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تَفَعَّلَ – يَتَفَعَّلُ - تَفَعُّلًا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822025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تَكَلَّمَ – يَتَكَلَّمُ - تَكَلُّمًا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İkizkenar Üçgen 1">
            <a:extLst>
              <a:ext uri="{FF2B5EF4-FFF2-40B4-BE49-F238E27FC236}">
                <a16:creationId xmlns:a16="http://schemas.microsoft.com/office/drawing/2014/main" id="{F761A71F-29CB-9CF0-1D02-9D53577DA23F}"/>
              </a:ext>
            </a:extLst>
          </p:cNvPr>
          <p:cNvSpPr/>
          <p:nvPr/>
        </p:nvSpPr>
        <p:spPr>
          <a:xfrm rot="18876393">
            <a:off x="-810273" y="-176755"/>
            <a:ext cx="2538637" cy="1259992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ar-AE" sz="2400" b="1" dirty="0">
                <a:solidFill>
                  <a:schemeClr val="bg1"/>
                </a:solidFill>
              </a:rPr>
              <a:t>2</a:t>
            </a:r>
            <a:r>
              <a:rPr lang="tr-TR" sz="2400" b="1" dirty="0">
                <a:solidFill>
                  <a:schemeClr val="bg1"/>
                </a:solidFill>
              </a:rPr>
              <a:t>. NEVİ</a:t>
            </a:r>
          </a:p>
        </p:txBody>
      </p:sp>
    </p:spTree>
    <p:extLst>
      <p:ext uri="{BB962C8B-B14F-4D97-AF65-F5344CB8AC3E}">
        <p14:creationId xmlns:p14="http://schemas.microsoft.com/office/powerpoint/2010/main" val="35968930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MEZİD </a:t>
            </a:r>
            <a:r>
              <a:rPr lang="ar-AE" dirty="0"/>
              <a:t>2</a:t>
            </a:r>
            <a:r>
              <a:rPr lang="tr-TR" dirty="0"/>
              <a:t>. NEVİ</a:t>
            </a:r>
          </a:p>
          <a:p>
            <a:pPr algn="ctr"/>
            <a:r>
              <a:rPr lang="ar-AE" dirty="0"/>
              <a:t>5</a:t>
            </a:r>
            <a:r>
              <a:rPr lang="tr-TR" dirty="0"/>
              <a:t>. BAB</a:t>
            </a:r>
          </a:p>
          <a:p>
            <a:pPr algn="ctr"/>
            <a:r>
              <a:rPr lang="ar-AE" sz="3200" b="1" dirty="0"/>
              <a:t>تَفَاعُلْ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005841"/>
            <a:ext cx="3709359" cy="1308734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>
                <a:solidFill>
                  <a:schemeClr val="tx1"/>
                </a:solidFill>
              </a:rPr>
              <a:t>Evveline Te(</a:t>
            </a:r>
            <a:r>
              <a:rPr lang="ar-AE" dirty="0">
                <a:solidFill>
                  <a:schemeClr val="tx1"/>
                </a:solidFill>
              </a:rPr>
              <a:t>ت</a:t>
            </a:r>
            <a:r>
              <a:rPr lang="tr-TR" dirty="0">
                <a:solidFill>
                  <a:schemeClr val="tx1"/>
                </a:solidFill>
              </a:rPr>
              <a:t>)</a:t>
            </a:r>
            <a:r>
              <a:rPr lang="ar-AE" dirty="0">
                <a:solidFill>
                  <a:schemeClr val="tx1"/>
                </a:solidFill>
              </a:rPr>
              <a:t>  </a:t>
            </a:r>
            <a:r>
              <a:rPr lang="tr-TR" dirty="0">
                <a:solidFill>
                  <a:schemeClr val="tx1"/>
                </a:solidFill>
              </a:rPr>
              <a:t> </a:t>
            </a:r>
            <a:r>
              <a:rPr lang="tr-TR" dirty="0" err="1">
                <a:solidFill>
                  <a:schemeClr val="tx1"/>
                </a:solidFill>
              </a:rPr>
              <a:t>Fael</a:t>
            </a:r>
            <a:r>
              <a:rPr lang="tr-TR" dirty="0">
                <a:solidFill>
                  <a:schemeClr val="tx1"/>
                </a:solidFill>
              </a:rPr>
              <a:t> fiili ile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 arasına Elif(</a:t>
            </a:r>
            <a:r>
              <a:rPr lang="ar-AE" dirty="0">
                <a:solidFill>
                  <a:schemeClr val="tx1"/>
                </a:solidFill>
              </a:rPr>
              <a:t>ا</a:t>
            </a:r>
            <a:r>
              <a:rPr lang="tr-TR" dirty="0">
                <a:solidFill>
                  <a:schemeClr val="tx1"/>
                </a:solidFill>
              </a:rPr>
              <a:t>) harfleri ziyadesi ile mazisinin 5 harf üzere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İki yada daha çok kişi arasında müşareket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171411" y="2868371"/>
            <a:ext cx="3931920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تَفَاعَلَ – يَتَفَاعَلُ - تَفَاعُلًا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822025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تَبَاعَدَ – يَتَبَاعَدُ - تَبَاعُدًا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İkizkenar Üçgen 1">
            <a:extLst>
              <a:ext uri="{FF2B5EF4-FFF2-40B4-BE49-F238E27FC236}">
                <a16:creationId xmlns:a16="http://schemas.microsoft.com/office/drawing/2014/main" id="{F761A71F-29CB-9CF0-1D02-9D53577DA23F}"/>
              </a:ext>
            </a:extLst>
          </p:cNvPr>
          <p:cNvSpPr/>
          <p:nvPr/>
        </p:nvSpPr>
        <p:spPr>
          <a:xfrm rot="18876393">
            <a:off x="-810273" y="-176755"/>
            <a:ext cx="2538637" cy="1259992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ar-AE" sz="2400" b="1" dirty="0">
                <a:solidFill>
                  <a:schemeClr val="bg1"/>
                </a:solidFill>
              </a:rPr>
              <a:t>2</a:t>
            </a:r>
            <a:r>
              <a:rPr lang="tr-TR" sz="2400" b="1" dirty="0">
                <a:solidFill>
                  <a:schemeClr val="bg1"/>
                </a:solidFill>
              </a:rPr>
              <a:t>. NEVİ</a:t>
            </a:r>
          </a:p>
        </p:txBody>
      </p:sp>
    </p:spTree>
    <p:extLst>
      <p:ext uri="{BB962C8B-B14F-4D97-AF65-F5344CB8AC3E}">
        <p14:creationId xmlns:p14="http://schemas.microsoft.com/office/powerpoint/2010/main" val="2306663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188228" y="2653995"/>
            <a:ext cx="3501045" cy="1550009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MEZİD 3. NEVİ</a:t>
            </a:r>
          </a:p>
          <a:p>
            <a:pPr algn="ctr"/>
            <a:r>
              <a:rPr lang="tr-TR" dirty="0"/>
              <a:t>1. BAB</a:t>
            </a:r>
          </a:p>
          <a:p>
            <a:pPr algn="ctr"/>
            <a:r>
              <a:rPr lang="ar-AE" sz="3200" b="1" dirty="0"/>
              <a:t>اِسْتِفْعَالْ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088476" y="1005841"/>
            <a:ext cx="3709359" cy="1308734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>
                <a:solidFill>
                  <a:schemeClr val="tx1"/>
                </a:solidFill>
              </a:rPr>
              <a:t>Evveline Elif(</a:t>
            </a:r>
            <a:r>
              <a:rPr lang="ar-AE" dirty="0">
                <a:solidFill>
                  <a:schemeClr val="tx1"/>
                </a:solidFill>
              </a:rPr>
              <a:t>ا</a:t>
            </a:r>
            <a:r>
              <a:rPr lang="tr-TR" dirty="0">
                <a:solidFill>
                  <a:schemeClr val="tx1"/>
                </a:solidFill>
              </a:rPr>
              <a:t>), Se(</a:t>
            </a:r>
            <a:r>
              <a:rPr lang="ar-AE" dirty="0">
                <a:solidFill>
                  <a:schemeClr val="tx1"/>
                </a:solidFill>
              </a:rPr>
              <a:t>س</a:t>
            </a:r>
            <a:r>
              <a:rPr lang="tr-TR" dirty="0">
                <a:solidFill>
                  <a:schemeClr val="tx1"/>
                </a:solidFill>
              </a:rPr>
              <a:t>),  Te(</a:t>
            </a:r>
            <a:r>
              <a:rPr lang="ar-AE" dirty="0">
                <a:solidFill>
                  <a:schemeClr val="tx1"/>
                </a:solidFill>
              </a:rPr>
              <a:t>ت</a:t>
            </a:r>
            <a:r>
              <a:rPr lang="tr-TR" dirty="0">
                <a:solidFill>
                  <a:schemeClr val="tx1"/>
                </a:solidFill>
              </a:rPr>
              <a:t>)</a:t>
            </a:r>
            <a:r>
              <a:rPr lang="ar-AE" dirty="0">
                <a:solidFill>
                  <a:schemeClr val="tx1"/>
                </a:solidFill>
              </a:rPr>
              <a:t> </a:t>
            </a:r>
            <a:r>
              <a:rPr lang="tr-TR" dirty="0">
                <a:solidFill>
                  <a:schemeClr val="tx1"/>
                </a:solidFill>
              </a:rPr>
              <a:t>harfleri ziyadesi ile mazisinin 6 harf üzere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113607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</a:t>
            </a:r>
            <a:r>
              <a:rPr lang="ar-AE" dirty="0">
                <a:solidFill>
                  <a:schemeClr val="tx1"/>
                </a:solidFill>
              </a:rPr>
              <a:t>.</a:t>
            </a:r>
            <a:r>
              <a:rPr lang="tr-TR" dirty="0">
                <a:solidFill>
                  <a:schemeClr val="tx1"/>
                </a:solidFill>
              </a:rPr>
              <a:t>Çoğu kere </a:t>
            </a:r>
            <a:r>
              <a:rPr lang="tr-TR" dirty="0" err="1">
                <a:solidFill>
                  <a:schemeClr val="tx1"/>
                </a:solidFill>
              </a:rPr>
              <a:t>müteaddi</a:t>
            </a:r>
            <a:r>
              <a:rPr lang="tr-TR" dirty="0">
                <a:solidFill>
                  <a:schemeClr val="tx1"/>
                </a:solidFill>
              </a:rPr>
              <a:t>, bazen lazım olur.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7797836" y="2868371"/>
            <a:ext cx="4280558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اِسْتَفْعَلَ – يَسْتَفْعِلُ - اِسْتِفْعَالًا	</a:t>
            </a:r>
            <a:endParaRPr lang="tr-TR" sz="3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3532910" y="4543425"/>
            <a:ext cx="4879570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اِسْتَخْرَجَ – يَسْتَخْرِجُ - اِسْتِخْرَاجًا	</a:t>
            </a:r>
            <a:endParaRPr lang="tr-TR" sz="3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İkizkenar Üçgen 1">
            <a:extLst>
              <a:ext uri="{FF2B5EF4-FFF2-40B4-BE49-F238E27FC236}">
                <a16:creationId xmlns:a16="http://schemas.microsoft.com/office/drawing/2014/main" id="{F761A71F-29CB-9CF0-1D02-9D53577DA23F}"/>
              </a:ext>
            </a:extLst>
          </p:cNvPr>
          <p:cNvSpPr/>
          <p:nvPr/>
        </p:nvSpPr>
        <p:spPr>
          <a:xfrm rot="18876393">
            <a:off x="-810273" y="-176755"/>
            <a:ext cx="2538637" cy="1259992"/>
          </a:xfrm>
          <a:prstGeom prst="triangle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r-TR" sz="2400" b="1" dirty="0">
                <a:solidFill>
                  <a:schemeClr val="bg1"/>
                </a:solidFill>
              </a:rPr>
              <a:t>3. NEVİ</a:t>
            </a:r>
          </a:p>
        </p:txBody>
      </p:sp>
    </p:spTree>
    <p:extLst>
      <p:ext uri="{BB962C8B-B14F-4D97-AF65-F5344CB8AC3E}">
        <p14:creationId xmlns:p14="http://schemas.microsoft.com/office/powerpoint/2010/main" val="4265281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378035" y="2626822"/>
            <a:ext cx="3435930" cy="1604356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MEZİD 3. NEVİ</a:t>
            </a:r>
          </a:p>
          <a:p>
            <a:pPr algn="ctr"/>
            <a:r>
              <a:rPr lang="tr-TR" dirty="0"/>
              <a:t>2. BAB</a:t>
            </a:r>
          </a:p>
          <a:p>
            <a:pPr algn="ctr"/>
            <a:r>
              <a:rPr lang="ar-AE" sz="3200" b="1" dirty="0"/>
              <a:t>اِفْعِيعَالْ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164676" y="789709"/>
            <a:ext cx="3898669" cy="152486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>
                <a:solidFill>
                  <a:schemeClr val="tx1"/>
                </a:solidFill>
              </a:rPr>
              <a:t>Evveline Hemze(</a:t>
            </a:r>
            <a:r>
              <a:rPr lang="ar-AE" dirty="0">
                <a:solidFill>
                  <a:schemeClr val="tx1"/>
                </a:solidFill>
              </a:rPr>
              <a:t>ا</a:t>
            </a:r>
            <a:r>
              <a:rPr lang="tr-TR" dirty="0">
                <a:solidFill>
                  <a:schemeClr val="tx1"/>
                </a:solidFill>
              </a:rPr>
              <a:t>),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 ile Lamel fiili arasına </a:t>
            </a:r>
            <a:r>
              <a:rPr lang="tr-TR" dirty="0" err="1">
                <a:solidFill>
                  <a:schemeClr val="tx1"/>
                </a:solidFill>
              </a:rPr>
              <a:t>vav</a:t>
            </a:r>
            <a:r>
              <a:rPr lang="tr-TR" dirty="0">
                <a:solidFill>
                  <a:schemeClr val="tx1"/>
                </a:solidFill>
              </a:rPr>
              <a:t>(</a:t>
            </a:r>
            <a:r>
              <a:rPr lang="ar-AE" dirty="0">
                <a:solidFill>
                  <a:schemeClr val="tx1"/>
                </a:solidFill>
              </a:rPr>
              <a:t>و</a:t>
            </a:r>
            <a:r>
              <a:rPr lang="tr-TR" dirty="0">
                <a:solidFill>
                  <a:schemeClr val="tx1"/>
                </a:solidFill>
              </a:rPr>
              <a:t>) ve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 cinsinden harfler ziyadesi ile mazisinin 6 harf üzere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4037463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Lazımın mübalağası içindir.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7913717" y="2868371"/>
            <a:ext cx="4186844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اِفْعَوْعَلَ – يَفْعَوْعِلُ – اِفْعِيعَالًا	</a:t>
            </a:r>
            <a:endParaRPr lang="tr-TR" sz="3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3668684" y="4543423"/>
            <a:ext cx="4854632" cy="103441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اِعْشَوْشَبَ – يَعْشَوْشِبُ - اِعْشِيشَابًا	</a:t>
            </a:r>
            <a:endParaRPr lang="tr-TR" sz="3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İkizkenar Üçgen 1">
            <a:extLst>
              <a:ext uri="{FF2B5EF4-FFF2-40B4-BE49-F238E27FC236}">
                <a16:creationId xmlns:a16="http://schemas.microsoft.com/office/drawing/2014/main" id="{F761A71F-29CB-9CF0-1D02-9D53577DA23F}"/>
              </a:ext>
            </a:extLst>
          </p:cNvPr>
          <p:cNvSpPr/>
          <p:nvPr/>
        </p:nvSpPr>
        <p:spPr>
          <a:xfrm rot="18876393">
            <a:off x="-810273" y="-176755"/>
            <a:ext cx="2538637" cy="1259992"/>
          </a:xfrm>
          <a:prstGeom prst="triangle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r-TR" sz="2400" b="1" dirty="0">
                <a:solidFill>
                  <a:schemeClr val="bg1"/>
                </a:solidFill>
              </a:rPr>
              <a:t>3. NEVİ</a:t>
            </a:r>
          </a:p>
        </p:txBody>
      </p:sp>
    </p:spTree>
    <p:extLst>
      <p:ext uri="{BB962C8B-B14F-4D97-AF65-F5344CB8AC3E}">
        <p14:creationId xmlns:p14="http://schemas.microsoft.com/office/powerpoint/2010/main" val="8480895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461163" y="2651760"/>
            <a:ext cx="3269674" cy="1554480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MEZİD 3. NEVİ</a:t>
            </a:r>
          </a:p>
          <a:p>
            <a:pPr algn="ctr"/>
            <a:r>
              <a:rPr lang="tr-TR" dirty="0"/>
              <a:t>3. BAB</a:t>
            </a:r>
          </a:p>
          <a:p>
            <a:pPr algn="ctr"/>
            <a:r>
              <a:rPr lang="ar-AE" sz="3200" b="1" dirty="0"/>
              <a:t>اِفْعِوَّالْ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241320" y="1005841"/>
            <a:ext cx="3709359" cy="1308734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>
                <a:solidFill>
                  <a:schemeClr val="tx1"/>
                </a:solidFill>
              </a:rPr>
              <a:t>Evveline Hemze(</a:t>
            </a:r>
            <a:r>
              <a:rPr lang="ar-AE" dirty="0">
                <a:solidFill>
                  <a:schemeClr val="tx1"/>
                </a:solidFill>
              </a:rPr>
              <a:t>ا</a:t>
            </a:r>
            <a:r>
              <a:rPr lang="tr-TR" dirty="0">
                <a:solidFill>
                  <a:schemeClr val="tx1"/>
                </a:solidFill>
              </a:rPr>
              <a:t>),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 ile Lamel fiili arasına 2 </a:t>
            </a:r>
            <a:r>
              <a:rPr lang="tr-TR" dirty="0" err="1">
                <a:solidFill>
                  <a:schemeClr val="tx1"/>
                </a:solidFill>
              </a:rPr>
              <a:t>vav</a:t>
            </a:r>
            <a:r>
              <a:rPr lang="tr-TR" dirty="0">
                <a:solidFill>
                  <a:schemeClr val="tx1"/>
                </a:solidFill>
              </a:rPr>
              <a:t>(</a:t>
            </a:r>
            <a:r>
              <a:rPr lang="ar-AE" dirty="0">
                <a:solidFill>
                  <a:schemeClr val="tx1"/>
                </a:solidFill>
              </a:rPr>
              <a:t>و</a:t>
            </a:r>
            <a:r>
              <a:rPr lang="tr-TR" dirty="0">
                <a:solidFill>
                  <a:schemeClr val="tx1"/>
                </a:solidFill>
              </a:rPr>
              <a:t>) harfleri ziyadesi ile mazisinin 6 harf üzere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12125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Lazımın mübalağası içindir. Bu bab günlük </a:t>
            </a:r>
            <a:r>
              <a:rPr lang="tr-TR" dirty="0" err="1">
                <a:solidFill>
                  <a:schemeClr val="tx1"/>
                </a:solidFill>
              </a:rPr>
              <a:t>arapça</a:t>
            </a:r>
            <a:r>
              <a:rPr lang="ar-AE" dirty="0">
                <a:solidFill>
                  <a:schemeClr val="tx1"/>
                </a:solidFill>
              </a:rPr>
              <a:t> </a:t>
            </a:r>
            <a:r>
              <a:rPr lang="tr-TR" dirty="0">
                <a:solidFill>
                  <a:schemeClr val="tx1"/>
                </a:solidFill>
              </a:rPr>
              <a:t>da çok az kullanılır.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7847215" y="2868371"/>
            <a:ext cx="4272741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اِفْعَوَّلَ – يَفْعَوِّلُ - اِفْعِوَّالًا	</a:t>
            </a:r>
            <a:endParaRPr lang="tr-TR" sz="3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4241320" y="4543425"/>
            <a:ext cx="3946716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اِجْلَوَّذَ – يَجْلَوِّذُ - اِجْلِوَّاذًا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İkizkenar Üçgen 1">
            <a:extLst>
              <a:ext uri="{FF2B5EF4-FFF2-40B4-BE49-F238E27FC236}">
                <a16:creationId xmlns:a16="http://schemas.microsoft.com/office/drawing/2014/main" id="{F761A71F-29CB-9CF0-1D02-9D53577DA23F}"/>
              </a:ext>
            </a:extLst>
          </p:cNvPr>
          <p:cNvSpPr/>
          <p:nvPr/>
        </p:nvSpPr>
        <p:spPr>
          <a:xfrm rot="18876393">
            <a:off x="-810273" y="-176755"/>
            <a:ext cx="2538637" cy="1259992"/>
          </a:xfrm>
          <a:prstGeom prst="triangle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r-TR" sz="2400" b="1" dirty="0">
                <a:solidFill>
                  <a:schemeClr val="bg1"/>
                </a:solidFill>
              </a:rPr>
              <a:t>3. NEVİ</a:t>
            </a:r>
          </a:p>
        </p:txBody>
      </p:sp>
    </p:spTree>
    <p:extLst>
      <p:ext uri="{BB962C8B-B14F-4D97-AF65-F5344CB8AC3E}">
        <p14:creationId xmlns:p14="http://schemas.microsoft.com/office/powerpoint/2010/main" val="4006609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24824917-9527-9A35-B85F-969A69D3B615}"/>
              </a:ext>
            </a:extLst>
          </p:cNvPr>
          <p:cNvSpPr/>
          <p:nvPr/>
        </p:nvSpPr>
        <p:spPr>
          <a:xfrm>
            <a:off x="4241320" y="2523226"/>
            <a:ext cx="3709359" cy="1811548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SÜLASİ MEZİD 3. NEVİ</a:t>
            </a:r>
          </a:p>
          <a:p>
            <a:pPr algn="ctr"/>
            <a:r>
              <a:rPr lang="tr-TR" dirty="0"/>
              <a:t>4. BAB</a:t>
            </a:r>
          </a:p>
          <a:p>
            <a:pPr algn="ctr"/>
            <a:r>
              <a:rPr lang="ar-AE" sz="3200" b="1" dirty="0"/>
              <a:t>اِفْعِيلَالْ</a:t>
            </a:r>
            <a:endParaRPr lang="tr-TR" sz="3200" b="1" dirty="0"/>
          </a:p>
        </p:txBody>
      </p:sp>
      <p:sp>
        <p:nvSpPr>
          <p:cNvPr id="5" name="Dikdörtgen: Üst Köşeleri Yuvarlatılmış 4">
            <a:extLst>
              <a:ext uri="{FF2B5EF4-FFF2-40B4-BE49-F238E27FC236}">
                <a16:creationId xmlns:a16="http://schemas.microsoft.com/office/drawing/2014/main" id="{DE25C558-0A44-EE66-F7E7-E1CB66230352}"/>
              </a:ext>
            </a:extLst>
          </p:cNvPr>
          <p:cNvSpPr/>
          <p:nvPr/>
        </p:nvSpPr>
        <p:spPr>
          <a:xfrm>
            <a:off x="4010419" y="781396"/>
            <a:ext cx="4171160" cy="1533179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ALAMETİ: </a:t>
            </a:r>
            <a:r>
              <a:rPr lang="tr-TR" dirty="0">
                <a:solidFill>
                  <a:schemeClr val="tx1"/>
                </a:solidFill>
              </a:rPr>
              <a:t>Evveline Hemze(</a:t>
            </a:r>
            <a:r>
              <a:rPr lang="ar-AE" dirty="0">
                <a:solidFill>
                  <a:schemeClr val="tx1"/>
                </a:solidFill>
              </a:rPr>
              <a:t>ا</a:t>
            </a:r>
            <a:r>
              <a:rPr lang="tr-TR" dirty="0">
                <a:solidFill>
                  <a:schemeClr val="tx1"/>
                </a:solidFill>
              </a:rPr>
              <a:t>), </a:t>
            </a:r>
            <a:r>
              <a:rPr lang="tr-TR" dirty="0" err="1">
                <a:solidFill>
                  <a:schemeClr val="tx1"/>
                </a:solidFill>
              </a:rPr>
              <a:t>Aynel</a:t>
            </a:r>
            <a:r>
              <a:rPr lang="tr-TR" dirty="0">
                <a:solidFill>
                  <a:schemeClr val="tx1"/>
                </a:solidFill>
              </a:rPr>
              <a:t> fiili ile Lamel fiili arasına Elif(</a:t>
            </a:r>
            <a:r>
              <a:rPr lang="ar-AE" dirty="0">
                <a:solidFill>
                  <a:schemeClr val="tx1"/>
                </a:solidFill>
              </a:rPr>
              <a:t>ا</a:t>
            </a:r>
            <a:r>
              <a:rPr lang="tr-TR" dirty="0">
                <a:solidFill>
                  <a:schemeClr val="tx1"/>
                </a:solidFill>
              </a:rPr>
              <a:t>)</a:t>
            </a:r>
            <a:r>
              <a:rPr lang="ar-AE" dirty="0">
                <a:solidFill>
                  <a:schemeClr val="tx1"/>
                </a:solidFill>
              </a:rPr>
              <a:t> </a:t>
            </a:r>
            <a:r>
              <a:rPr lang="tr-TR" dirty="0">
                <a:solidFill>
                  <a:schemeClr val="tx1"/>
                </a:solidFill>
              </a:rPr>
              <a:t> ve sonuna Lamel cinsinden harfler ziyadesi ile mazisinin 6 harf üzere olmasıdır.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7" name="Dikdörtgen: Üst Köşeleri Yuvarlatılmış 6">
            <a:extLst>
              <a:ext uri="{FF2B5EF4-FFF2-40B4-BE49-F238E27FC236}">
                <a16:creationId xmlns:a16="http://schemas.microsoft.com/office/drawing/2014/main" id="{035ECAAF-6A44-611A-A787-ED2E34D3FDD0}"/>
              </a:ext>
            </a:extLst>
          </p:cNvPr>
          <p:cNvSpPr/>
          <p:nvPr/>
        </p:nvSpPr>
        <p:spPr>
          <a:xfrm>
            <a:off x="240820" y="2868372"/>
            <a:ext cx="3709359" cy="1238115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Binası: </a:t>
            </a:r>
            <a:r>
              <a:rPr lang="tr-TR" dirty="0">
                <a:solidFill>
                  <a:schemeClr val="tx1"/>
                </a:solidFill>
              </a:rPr>
              <a:t>Lazımın mübalağası içindir. Ancak bu </a:t>
            </a:r>
            <a:r>
              <a:rPr lang="tr-TR" dirty="0" err="1">
                <a:solidFill>
                  <a:schemeClr val="tx1"/>
                </a:solidFill>
              </a:rPr>
              <a:t>bab’ın</a:t>
            </a:r>
            <a:r>
              <a:rPr lang="tr-TR" dirty="0">
                <a:solidFill>
                  <a:schemeClr val="tx1"/>
                </a:solidFill>
              </a:rPr>
              <a:t> binası </a:t>
            </a:r>
            <a:r>
              <a:rPr lang="ar-AE" sz="1800" b="1" dirty="0"/>
              <a:t>اِفْعِلَالْ</a:t>
            </a:r>
            <a:r>
              <a:rPr lang="tr-TR" sz="1800" b="1" dirty="0"/>
              <a:t> </a:t>
            </a:r>
            <a:r>
              <a:rPr lang="tr-TR" sz="1800" dirty="0" err="1"/>
              <a:t>bab’ından</a:t>
            </a:r>
            <a:r>
              <a:rPr lang="tr-TR" sz="1800" dirty="0"/>
              <a:t> daha mübalağalıdır.</a:t>
            </a:r>
            <a:endParaRPr lang="tr-TR" dirty="0">
              <a:solidFill>
                <a:srgbClr val="C00000"/>
              </a:solidFill>
            </a:endParaRPr>
          </a:p>
        </p:txBody>
      </p:sp>
      <p:sp>
        <p:nvSpPr>
          <p:cNvPr id="8" name="Dikdörtgen: Üst Köşeleri Yuvarlatılmış 7">
            <a:extLst>
              <a:ext uri="{FF2B5EF4-FFF2-40B4-BE49-F238E27FC236}">
                <a16:creationId xmlns:a16="http://schemas.microsoft.com/office/drawing/2014/main" id="{30BE5D54-F616-EC32-A7B3-9070EBCFD1C5}"/>
              </a:ext>
            </a:extLst>
          </p:cNvPr>
          <p:cNvSpPr/>
          <p:nvPr/>
        </p:nvSpPr>
        <p:spPr>
          <a:xfrm>
            <a:off x="8063345" y="2868371"/>
            <a:ext cx="3887835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Vezni: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اِفْعَالَّ – يَفْعَالُّ - اِفْعِيلَالًا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" name="Dikdörtgen: Üst Köşeleri Yuvarlatılmış 8">
            <a:extLst>
              <a:ext uri="{FF2B5EF4-FFF2-40B4-BE49-F238E27FC236}">
                <a16:creationId xmlns:a16="http://schemas.microsoft.com/office/drawing/2014/main" id="{8960AD68-9065-3C5A-2910-54AD292D8F34}"/>
              </a:ext>
            </a:extLst>
          </p:cNvPr>
          <p:cNvSpPr/>
          <p:nvPr/>
        </p:nvSpPr>
        <p:spPr>
          <a:xfrm>
            <a:off x="3890812" y="4498039"/>
            <a:ext cx="4410374" cy="1121256"/>
          </a:xfrm>
          <a:prstGeom prst="round2SameRect">
            <a:avLst>
              <a:gd name="adj1" fmla="val 0"/>
              <a:gd name="adj2" fmla="val 0"/>
            </a:avLst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216000" tIns="72000" rIns="288000" bIns="288000" rtlCol="0" anchor="t"/>
          <a:lstStyle/>
          <a:p>
            <a:r>
              <a:rPr lang="tr-TR" dirty="0">
                <a:solidFill>
                  <a:srgbClr val="C00000"/>
                </a:solidFill>
              </a:rPr>
              <a:t>Mevzun:</a:t>
            </a:r>
            <a:endParaRPr lang="ar-AE" dirty="0">
              <a:solidFill>
                <a:srgbClr val="C00000"/>
              </a:solidFill>
            </a:endParaRPr>
          </a:p>
          <a:p>
            <a:pPr algn="r"/>
            <a:r>
              <a:rPr lang="ar-AE" sz="3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اِحْمَارَّ – يَحْمَارُّ - اِحْمِيرَارًا	</a:t>
            </a:r>
            <a:endParaRPr lang="tr-TR" sz="3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İkizkenar Üçgen 1">
            <a:extLst>
              <a:ext uri="{FF2B5EF4-FFF2-40B4-BE49-F238E27FC236}">
                <a16:creationId xmlns:a16="http://schemas.microsoft.com/office/drawing/2014/main" id="{F761A71F-29CB-9CF0-1D02-9D53577DA23F}"/>
              </a:ext>
            </a:extLst>
          </p:cNvPr>
          <p:cNvSpPr/>
          <p:nvPr/>
        </p:nvSpPr>
        <p:spPr>
          <a:xfrm rot="18876393">
            <a:off x="-810273" y="-176755"/>
            <a:ext cx="2538637" cy="1259992"/>
          </a:xfrm>
          <a:prstGeom prst="triangle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tr-TR" sz="2400" b="1" dirty="0">
                <a:solidFill>
                  <a:schemeClr val="bg1"/>
                </a:solidFill>
              </a:rPr>
              <a:t>3. NEVİ</a:t>
            </a:r>
          </a:p>
        </p:txBody>
      </p:sp>
    </p:spTree>
    <p:extLst>
      <p:ext uri="{BB962C8B-B14F-4D97-AF65-F5344CB8AC3E}">
        <p14:creationId xmlns:p14="http://schemas.microsoft.com/office/powerpoint/2010/main" val="975404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687</TotalTime>
  <Words>1064</Words>
  <Application>Microsoft Office PowerPoint</Application>
  <PresentationFormat>Geniş ekran</PresentationFormat>
  <Paragraphs>220</Paragraphs>
  <Slides>20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Teması</vt:lpstr>
      <vt:lpstr>SÜLASİ MÜCERRED BABLAR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Ayhan KARAMAN</dc:creator>
  <cp:lastModifiedBy>Ayhan Karaman</cp:lastModifiedBy>
  <cp:revision>11</cp:revision>
  <dcterms:created xsi:type="dcterms:W3CDTF">2026-08-20T13:56:45Z</dcterms:created>
  <dcterms:modified xsi:type="dcterms:W3CDTF">2026-08-24T16:39:23Z</dcterms:modified>
</cp:coreProperties>
</file>