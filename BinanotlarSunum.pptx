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7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235232-8B01-E8F4-7E47-5842C8A6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3AD2988-D2A7-1727-437F-9404366B5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084068-F86E-E8AC-8D43-BAD0FD26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EDB904-1F6E-99FB-B983-C089EC52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1548C1-6456-5232-EDAA-E6F83741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264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C551F1-AD57-D8CA-833B-4310A9D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33410E-FD52-6245-5864-D4837BC6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282353-8DA7-99C9-3D9B-3D4A481D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B05659-5E48-E16D-5FA4-ADA1D8EC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A03CE0-747C-DB90-B976-09CDDCD2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194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3FB67A-8AF2-9A5A-C4D3-006321F6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94D0BC-A37B-462B-06B1-804CC0162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050AC7-4B2B-8319-983F-29BCDDE0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59C55B-0A23-C136-6F47-5480FC65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D91039-0BCA-A35D-4FE8-892DE57B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24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DD1D06-3149-C296-EC39-0E6CEDD4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BCED2E-7171-4D3A-5C5D-0B535DF7D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1FE503-2E0C-821C-AFB0-9D0C07926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A0174C5-E549-CAC8-487B-744DCC32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FC2951-D5AE-5736-118B-9BAF4B8B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4B2183-7724-4836-F03C-DE31D672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41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B0E271-E28E-E154-2FA8-644BC273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D0CDE6-948C-DDA6-E2B8-093C6A10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22C274D-9ACA-7149-8EFB-692D12B9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242FE66-898A-5DC8-DACC-385ED2CF9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27CCDDE-B9E6-F370-02FA-0B04A8A27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DA286FD-5AF0-6599-F912-C8DB086D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E541F74-5D30-EA19-A7F5-4A2C893D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C72A07-A7CC-28B2-6248-DA35C394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20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31F4B9-791F-40F1-90A2-14D1791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8AFA1A-F9E0-0AEE-C017-CB6964C3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602C828-3CBB-DBB6-20B6-B9F2CB1A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3B2220F-053A-1725-7708-337FDB74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7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5A3DB96-D4FC-F3AF-88B4-8C7151DE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8E230E7-71F4-6755-DC6A-EDA3AF7A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5FF9ED7-1981-2E93-1B97-CF9B0785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749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92D0C6-54B6-2BA3-76A8-99D7DC61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F079DA-19F7-26B2-0230-AFF2F22B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0C5F13F-4AC5-0AAF-C794-F028296FF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D32A9D2-8845-CE20-87F2-C4A26B72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E1DAA2A-6355-788A-17C5-E28840D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CACA501-4190-AE87-7BF3-9840868C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9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49D6ED-E282-9B78-4876-E537D871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96AE09-8DCD-FC54-0A04-13E0871A4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49435A-A7E0-8B90-A05B-A0C5931D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14347C6-E941-9D62-FB66-D860EFBE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9D7838-5364-0186-FB53-D037192C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A358EA-51EF-49CA-549F-C70E4C9F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703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62F0E5-BF0D-5C1D-24F4-47DBE89A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38129C7-329B-AA82-CBCE-FD924D8F0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C417773-1558-FCAB-DAB1-0B4806D4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C3B583-25E6-25CD-E407-E40CA775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708256-6090-293E-A6A8-258D2954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49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4FDC7A2-0407-E4AF-C545-6C2CBF1C9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670B019-1246-5896-9EE5-FA4BD70A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1C0BEA-D6DB-3B44-BC54-3DE73A2B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0F2EF2-5AD0-7A1F-3095-8A6FF57A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3E0EA3-467E-FBB4-304D-93DE5FC9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920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19888C3-194A-01D7-A5E0-C09033AB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895EC72-ADB0-A421-2DCE-AB2C62D83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61924-4EBB-060F-0875-FE0A33681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9914-A052-41C0-AB34-A4555936D3D8}" type="datetimeFigureOut">
              <a:rPr lang="tr-TR" smtClean="0"/>
              <a:t>29.08.2026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BE1702-A22E-8992-95F3-2587258A5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A7157B2-485B-02C1-4DD9-2E0A2835E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76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1472CB-6046-CC82-D8FE-99A8A227B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tr-TR" dirty="0"/>
              <a:t>SÜLASİ MÜCERRED BABLAR</a:t>
            </a:r>
          </a:p>
        </p:txBody>
      </p:sp>
      <p:grpSp>
        <p:nvGrpSpPr>
          <p:cNvPr id="36" name="Grup 35">
            <a:extLst>
              <a:ext uri="{FF2B5EF4-FFF2-40B4-BE49-F238E27FC236}">
                <a16:creationId xmlns:a16="http://schemas.microsoft.com/office/drawing/2014/main" id="{1ACDF3B8-6930-6C01-FAA3-EB5194D665C6}"/>
              </a:ext>
            </a:extLst>
          </p:cNvPr>
          <p:cNvGrpSpPr/>
          <p:nvPr/>
        </p:nvGrpSpPr>
        <p:grpSpPr>
          <a:xfrm>
            <a:off x="1966402" y="4081530"/>
            <a:ext cx="819510" cy="1631041"/>
            <a:chOff x="1966402" y="4081530"/>
            <a:chExt cx="819510" cy="1631041"/>
          </a:xfrm>
        </p:grpSpPr>
        <p:sp>
          <p:nvSpPr>
            <p:cNvPr id="4" name="Dikdörtgen 3">
              <a:extLst>
                <a:ext uri="{FF2B5EF4-FFF2-40B4-BE49-F238E27FC236}">
                  <a16:creationId xmlns:a16="http://schemas.microsoft.com/office/drawing/2014/main" id="{2013AE98-3AAF-FAC6-FACD-250604F22A20}"/>
                </a:ext>
              </a:extLst>
            </p:cNvPr>
            <p:cNvSpPr/>
            <p:nvPr/>
          </p:nvSpPr>
          <p:spPr>
            <a:xfrm>
              <a:off x="1966402" y="4384103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" name="Metin kutusu 4">
              <a:extLst>
                <a:ext uri="{FF2B5EF4-FFF2-40B4-BE49-F238E27FC236}">
                  <a16:creationId xmlns:a16="http://schemas.microsoft.com/office/drawing/2014/main" id="{E4538B2D-31B3-BD3D-3336-22B955B9C0F4}"/>
                </a:ext>
              </a:extLst>
            </p:cNvPr>
            <p:cNvSpPr txBox="1"/>
            <p:nvPr/>
          </p:nvSpPr>
          <p:spPr>
            <a:xfrm>
              <a:off x="2043373" y="4486628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Metin kutusu 6">
              <a:extLst>
                <a:ext uri="{FF2B5EF4-FFF2-40B4-BE49-F238E27FC236}">
                  <a16:creationId xmlns:a16="http://schemas.microsoft.com/office/drawing/2014/main" id="{D8F6C4B3-F7C5-2F48-9CC7-962A82AA778F}"/>
                </a:ext>
              </a:extLst>
            </p:cNvPr>
            <p:cNvSpPr txBox="1"/>
            <p:nvPr/>
          </p:nvSpPr>
          <p:spPr>
            <a:xfrm>
              <a:off x="1994480" y="5099102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9" name="Düz Bağlayıcı 8">
              <a:extLst>
                <a:ext uri="{FF2B5EF4-FFF2-40B4-BE49-F238E27FC236}">
                  <a16:creationId xmlns:a16="http://schemas.microsoft.com/office/drawing/2014/main" id="{F0FE9E48-6AB5-DD06-A313-BB56CAF56F31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1966402" y="5048337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Metin kutusu 9">
              <a:extLst>
                <a:ext uri="{FF2B5EF4-FFF2-40B4-BE49-F238E27FC236}">
                  <a16:creationId xmlns:a16="http://schemas.microsoft.com/office/drawing/2014/main" id="{CDE44752-8B59-44FF-74A2-8EB004C9CF8C}"/>
                </a:ext>
              </a:extLst>
            </p:cNvPr>
            <p:cNvSpPr txBox="1"/>
            <p:nvPr/>
          </p:nvSpPr>
          <p:spPr>
            <a:xfrm>
              <a:off x="1966402" y="4081530"/>
              <a:ext cx="694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1400" dirty="0"/>
                <a:t>1</a:t>
              </a:r>
              <a:r>
                <a:rPr lang="tr-TR" sz="1400" dirty="0"/>
                <a:t>. BAB</a:t>
              </a: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810ADEEA-39B8-2255-0B42-B656FC3F5580}"/>
              </a:ext>
            </a:extLst>
          </p:cNvPr>
          <p:cNvGrpSpPr/>
          <p:nvPr/>
        </p:nvGrpSpPr>
        <p:grpSpPr>
          <a:xfrm>
            <a:off x="3477479" y="4085811"/>
            <a:ext cx="819510" cy="1631041"/>
            <a:chOff x="3395315" y="4085811"/>
            <a:chExt cx="819510" cy="1631041"/>
          </a:xfrm>
        </p:grpSpPr>
        <p:sp>
          <p:nvSpPr>
            <p:cNvPr id="11" name="Dikdörtgen 10">
              <a:extLst>
                <a:ext uri="{FF2B5EF4-FFF2-40B4-BE49-F238E27FC236}">
                  <a16:creationId xmlns:a16="http://schemas.microsoft.com/office/drawing/2014/main" id="{7896D91C-6F6B-0E59-DAEB-2CF46F3398F9}"/>
                </a:ext>
              </a:extLst>
            </p:cNvPr>
            <p:cNvSpPr/>
            <p:nvPr/>
          </p:nvSpPr>
          <p:spPr>
            <a:xfrm>
              <a:off x="3395315" y="4388384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2" name="Metin kutusu 11">
              <a:extLst>
                <a:ext uri="{FF2B5EF4-FFF2-40B4-BE49-F238E27FC236}">
                  <a16:creationId xmlns:a16="http://schemas.microsoft.com/office/drawing/2014/main" id="{952A3BC0-8987-3E83-99AA-E2607CDE2AAF}"/>
                </a:ext>
              </a:extLst>
            </p:cNvPr>
            <p:cNvSpPr txBox="1"/>
            <p:nvPr/>
          </p:nvSpPr>
          <p:spPr>
            <a:xfrm>
              <a:off x="3472286" y="4490909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3" name="Metin kutusu 12">
              <a:extLst>
                <a:ext uri="{FF2B5EF4-FFF2-40B4-BE49-F238E27FC236}">
                  <a16:creationId xmlns:a16="http://schemas.microsoft.com/office/drawing/2014/main" id="{E7F09FA7-FBE0-633A-DC88-BB12F2AAEE97}"/>
                </a:ext>
              </a:extLst>
            </p:cNvPr>
            <p:cNvSpPr txBox="1"/>
            <p:nvPr/>
          </p:nvSpPr>
          <p:spPr>
            <a:xfrm>
              <a:off x="3423393" y="5103383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4" name="Düz Bağlayıcı 13">
              <a:extLst>
                <a:ext uri="{FF2B5EF4-FFF2-40B4-BE49-F238E27FC236}">
                  <a16:creationId xmlns:a16="http://schemas.microsoft.com/office/drawing/2014/main" id="{C85D1D17-A50B-D04A-F8B7-3BF869539B4B}"/>
                </a:ext>
              </a:extLst>
            </p:cNvPr>
            <p:cNvCxnSpPr>
              <a:cxnSpLocks/>
              <a:stCxn id="11" idx="1"/>
              <a:endCxn id="11" idx="3"/>
            </p:cNvCxnSpPr>
            <p:nvPr/>
          </p:nvCxnSpPr>
          <p:spPr>
            <a:xfrm>
              <a:off x="3395315" y="5052618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etin kutusu 14">
              <a:extLst>
                <a:ext uri="{FF2B5EF4-FFF2-40B4-BE49-F238E27FC236}">
                  <a16:creationId xmlns:a16="http://schemas.microsoft.com/office/drawing/2014/main" id="{685A8C2F-1EC2-0004-95DD-4DAAED3F63C9}"/>
                </a:ext>
              </a:extLst>
            </p:cNvPr>
            <p:cNvSpPr txBox="1"/>
            <p:nvPr/>
          </p:nvSpPr>
          <p:spPr>
            <a:xfrm>
              <a:off x="3395315" y="4085811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2. BAB</a:t>
              </a:r>
            </a:p>
          </p:txBody>
        </p:sp>
      </p:grpSp>
      <p:grpSp>
        <p:nvGrpSpPr>
          <p:cNvPr id="38" name="Grup 37">
            <a:extLst>
              <a:ext uri="{FF2B5EF4-FFF2-40B4-BE49-F238E27FC236}">
                <a16:creationId xmlns:a16="http://schemas.microsoft.com/office/drawing/2014/main" id="{0815D6D6-A9D9-56FE-EE05-88C6A4AB136C}"/>
              </a:ext>
            </a:extLst>
          </p:cNvPr>
          <p:cNvGrpSpPr/>
          <p:nvPr/>
        </p:nvGrpSpPr>
        <p:grpSpPr>
          <a:xfrm>
            <a:off x="4988556" y="4077574"/>
            <a:ext cx="819510" cy="1631041"/>
            <a:chOff x="4915644" y="4077574"/>
            <a:chExt cx="819510" cy="1631041"/>
          </a:xfrm>
        </p:grpSpPr>
        <p:sp>
          <p:nvSpPr>
            <p:cNvPr id="16" name="Dikdörtgen 15">
              <a:extLst>
                <a:ext uri="{FF2B5EF4-FFF2-40B4-BE49-F238E27FC236}">
                  <a16:creationId xmlns:a16="http://schemas.microsoft.com/office/drawing/2014/main" id="{40BB0873-FDF8-7EF4-6305-DA7E9E98E5D7}"/>
                </a:ext>
              </a:extLst>
            </p:cNvPr>
            <p:cNvSpPr/>
            <p:nvPr/>
          </p:nvSpPr>
          <p:spPr>
            <a:xfrm>
              <a:off x="4915644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Metin kutusu 16">
              <a:extLst>
                <a:ext uri="{FF2B5EF4-FFF2-40B4-BE49-F238E27FC236}">
                  <a16:creationId xmlns:a16="http://schemas.microsoft.com/office/drawing/2014/main" id="{03557F84-2368-1479-DD7D-3FBD59A67E6E}"/>
                </a:ext>
              </a:extLst>
            </p:cNvPr>
            <p:cNvSpPr txBox="1"/>
            <p:nvPr/>
          </p:nvSpPr>
          <p:spPr>
            <a:xfrm>
              <a:off x="4992615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64A6392B-A214-6B51-2E51-871FB80BF985}"/>
                </a:ext>
              </a:extLst>
            </p:cNvPr>
            <p:cNvSpPr txBox="1"/>
            <p:nvPr/>
          </p:nvSpPr>
          <p:spPr>
            <a:xfrm>
              <a:off x="4943722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9" name="Düz Bağlayıcı 18">
              <a:extLst>
                <a:ext uri="{FF2B5EF4-FFF2-40B4-BE49-F238E27FC236}">
                  <a16:creationId xmlns:a16="http://schemas.microsoft.com/office/drawing/2014/main" id="{7CA760A1-1555-AA52-3823-97B7C1BA5F6D}"/>
                </a:ext>
              </a:extLst>
            </p:cNvPr>
            <p:cNvCxnSpPr>
              <a:cxnSpLocks/>
              <a:stCxn id="16" idx="1"/>
              <a:endCxn id="16" idx="3"/>
            </p:cNvCxnSpPr>
            <p:nvPr/>
          </p:nvCxnSpPr>
          <p:spPr>
            <a:xfrm>
              <a:off x="4915644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65C0FBA1-F2C2-F79C-D8B6-136BE34DC5B9}"/>
                </a:ext>
              </a:extLst>
            </p:cNvPr>
            <p:cNvSpPr txBox="1"/>
            <p:nvPr/>
          </p:nvSpPr>
          <p:spPr>
            <a:xfrm>
              <a:off x="4918850" y="4077574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3. BAB</a:t>
              </a:r>
            </a:p>
          </p:txBody>
        </p:sp>
      </p:grpSp>
      <p:grpSp>
        <p:nvGrpSpPr>
          <p:cNvPr id="39" name="Grup 38">
            <a:extLst>
              <a:ext uri="{FF2B5EF4-FFF2-40B4-BE49-F238E27FC236}">
                <a16:creationId xmlns:a16="http://schemas.microsoft.com/office/drawing/2014/main" id="{1055A103-4928-D9C6-444D-DD23814AB532}"/>
              </a:ext>
            </a:extLst>
          </p:cNvPr>
          <p:cNvGrpSpPr/>
          <p:nvPr/>
        </p:nvGrpSpPr>
        <p:grpSpPr>
          <a:xfrm>
            <a:off x="6499633" y="4058520"/>
            <a:ext cx="819510" cy="1650095"/>
            <a:chOff x="6439355" y="4058520"/>
            <a:chExt cx="819510" cy="1650095"/>
          </a:xfrm>
        </p:grpSpPr>
        <p:sp>
          <p:nvSpPr>
            <p:cNvPr id="21" name="Dikdörtgen 20">
              <a:extLst>
                <a:ext uri="{FF2B5EF4-FFF2-40B4-BE49-F238E27FC236}">
                  <a16:creationId xmlns:a16="http://schemas.microsoft.com/office/drawing/2014/main" id="{BFA7C1C4-6021-3443-02B5-F685B8A0B2D1}"/>
                </a:ext>
              </a:extLst>
            </p:cNvPr>
            <p:cNvSpPr/>
            <p:nvPr/>
          </p:nvSpPr>
          <p:spPr>
            <a:xfrm>
              <a:off x="6439355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99385DCD-10BC-2096-39CA-28ABD35B2642}"/>
                </a:ext>
              </a:extLst>
            </p:cNvPr>
            <p:cNvSpPr txBox="1"/>
            <p:nvPr/>
          </p:nvSpPr>
          <p:spPr>
            <a:xfrm>
              <a:off x="6516326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F47A6E6D-FF30-4DE0-2823-26812625B292}"/>
                </a:ext>
              </a:extLst>
            </p:cNvPr>
            <p:cNvSpPr txBox="1"/>
            <p:nvPr/>
          </p:nvSpPr>
          <p:spPr>
            <a:xfrm>
              <a:off x="6467433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" name="Düz Bağlayıcı 23">
              <a:extLst>
                <a:ext uri="{FF2B5EF4-FFF2-40B4-BE49-F238E27FC236}">
                  <a16:creationId xmlns:a16="http://schemas.microsoft.com/office/drawing/2014/main" id="{5D38D918-22C3-58E3-84BC-2B11FA4153FF}"/>
                </a:ext>
              </a:extLst>
            </p:cNvPr>
            <p:cNvCxnSpPr>
              <a:cxnSpLocks/>
              <a:stCxn id="21" idx="1"/>
              <a:endCxn id="21" idx="3"/>
            </p:cNvCxnSpPr>
            <p:nvPr/>
          </p:nvCxnSpPr>
          <p:spPr>
            <a:xfrm>
              <a:off x="6439355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E9989188-38E8-211B-E904-FA65EF693484}"/>
                </a:ext>
              </a:extLst>
            </p:cNvPr>
            <p:cNvSpPr txBox="1"/>
            <p:nvPr/>
          </p:nvSpPr>
          <p:spPr>
            <a:xfrm>
              <a:off x="6463069" y="4058520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4. BAB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26890FAE-234F-881D-09FD-B3C8AF2542F4}"/>
              </a:ext>
            </a:extLst>
          </p:cNvPr>
          <p:cNvGrpSpPr/>
          <p:nvPr/>
        </p:nvGrpSpPr>
        <p:grpSpPr>
          <a:xfrm>
            <a:off x="8010710" y="4085128"/>
            <a:ext cx="819510" cy="1600421"/>
            <a:chOff x="8021829" y="4085128"/>
            <a:chExt cx="819510" cy="1600421"/>
          </a:xfrm>
        </p:grpSpPr>
        <p:sp>
          <p:nvSpPr>
            <p:cNvPr id="26" name="Dikdörtgen 25">
              <a:extLst>
                <a:ext uri="{FF2B5EF4-FFF2-40B4-BE49-F238E27FC236}">
                  <a16:creationId xmlns:a16="http://schemas.microsoft.com/office/drawing/2014/main" id="{1D056538-AA3F-1058-7CD9-3D8C03A48161}"/>
                </a:ext>
              </a:extLst>
            </p:cNvPr>
            <p:cNvSpPr/>
            <p:nvPr/>
          </p:nvSpPr>
          <p:spPr>
            <a:xfrm>
              <a:off x="8021829" y="4357081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7" name="Metin kutusu 26">
              <a:extLst>
                <a:ext uri="{FF2B5EF4-FFF2-40B4-BE49-F238E27FC236}">
                  <a16:creationId xmlns:a16="http://schemas.microsoft.com/office/drawing/2014/main" id="{4BB0114D-7C2B-B0C3-EDFF-5FF0E0D59601}"/>
                </a:ext>
              </a:extLst>
            </p:cNvPr>
            <p:cNvSpPr txBox="1"/>
            <p:nvPr/>
          </p:nvSpPr>
          <p:spPr>
            <a:xfrm>
              <a:off x="8098800" y="4459606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فَعُلَ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891E1978-C013-D8F3-CB5B-D193EDDBAC3B}"/>
                </a:ext>
              </a:extLst>
            </p:cNvPr>
            <p:cNvSpPr txBox="1"/>
            <p:nvPr/>
          </p:nvSpPr>
          <p:spPr>
            <a:xfrm>
              <a:off x="8049907" y="5072080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9" name="Düz Bağlayıcı 28">
              <a:extLst>
                <a:ext uri="{FF2B5EF4-FFF2-40B4-BE49-F238E27FC236}">
                  <a16:creationId xmlns:a16="http://schemas.microsoft.com/office/drawing/2014/main" id="{9E746192-F2FF-A26A-45C6-0911A6350464}"/>
                </a:ext>
              </a:extLst>
            </p:cNvPr>
            <p:cNvCxnSpPr>
              <a:cxnSpLocks/>
              <a:stCxn id="26" idx="1"/>
              <a:endCxn id="26" idx="3"/>
            </p:cNvCxnSpPr>
            <p:nvPr/>
          </p:nvCxnSpPr>
          <p:spPr>
            <a:xfrm>
              <a:off x="8021829" y="5021315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>
              <a:extLst>
                <a:ext uri="{FF2B5EF4-FFF2-40B4-BE49-F238E27FC236}">
                  <a16:creationId xmlns:a16="http://schemas.microsoft.com/office/drawing/2014/main" id="{6F9C4D3D-E292-6511-D81C-986BE9503FCB}"/>
                </a:ext>
              </a:extLst>
            </p:cNvPr>
            <p:cNvSpPr txBox="1"/>
            <p:nvPr/>
          </p:nvSpPr>
          <p:spPr>
            <a:xfrm>
              <a:off x="8038859" y="4085128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5. BAB</a:t>
              </a: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9DB343CD-BFAB-F5CE-B53A-D1A942732632}"/>
              </a:ext>
            </a:extLst>
          </p:cNvPr>
          <p:cNvGrpSpPr/>
          <p:nvPr/>
        </p:nvGrpSpPr>
        <p:grpSpPr>
          <a:xfrm>
            <a:off x="9521788" y="4058519"/>
            <a:ext cx="819510" cy="1598336"/>
            <a:chOff x="9521788" y="4058519"/>
            <a:chExt cx="819510" cy="1598336"/>
          </a:xfrm>
        </p:grpSpPr>
        <p:sp>
          <p:nvSpPr>
            <p:cNvPr id="31" name="Dikdörtgen 30">
              <a:extLst>
                <a:ext uri="{FF2B5EF4-FFF2-40B4-BE49-F238E27FC236}">
                  <a16:creationId xmlns:a16="http://schemas.microsoft.com/office/drawing/2014/main" id="{F09B160E-C735-0005-F578-7726E3028BFC}"/>
                </a:ext>
              </a:extLst>
            </p:cNvPr>
            <p:cNvSpPr/>
            <p:nvPr/>
          </p:nvSpPr>
          <p:spPr>
            <a:xfrm>
              <a:off x="9521788" y="432838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>
              <a:extLst>
                <a:ext uri="{FF2B5EF4-FFF2-40B4-BE49-F238E27FC236}">
                  <a16:creationId xmlns:a16="http://schemas.microsoft.com/office/drawing/2014/main" id="{807A5FB2-8233-B8E1-5EC9-9DDFB0CF548E}"/>
                </a:ext>
              </a:extLst>
            </p:cNvPr>
            <p:cNvSpPr txBox="1"/>
            <p:nvPr/>
          </p:nvSpPr>
          <p:spPr>
            <a:xfrm>
              <a:off x="9598759" y="443091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E5BFD494-551B-AA25-5A23-CDA800BA82CE}"/>
                </a:ext>
              </a:extLst>
            </p:cNvPr>
            <p:cNvSpPr txBox="1"/>
            <p:nvPr/>
          </p:nvSpPr>
          <p:spPr>
            <a:xfrm>
              <a:off x="9549866" y="504338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34" name="Düz Bağlayıcı 33">
              <a:extLst>
                <a:ext uri="{FF2B5EF4-FFF2-40B4-BE49-F238E27FC236}">
                  <a16:creationId xmlns:a16="http://schemas.microsoft.com/office/drawing/2014/main" id="{7359CC77-0F1C-32E1-AF20-A68B2A0B8438}"/>
                </a:ext>
              </a:extLst>
            </p:cNvPr>
            <p:cNvCxnSpPr>
              <a:cxnSpLocks/>
              <a:stCxn id="31" idx="1"/>
              <a:endCxn id="31" idx="3"/>
            </p:cNvCxnSpPr>
            <p:nvPr/>
          </p:nvCxnSpPr>
          <p:spPr>
            <a:xfrm>
              <a:off x="9521788" y="499262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Metin kutusu 34">
              <a:extLst>
                <a:ext uri="{FF2B5EF4-FFF2-40B4-BE49-F238E27FC236}">
                  <a16:creationId xmlns:a16="http://schemas.microsoft.com/office/drawing/2014/main" id="{3B63454A-D79D-DC8E-62C0-2B90F6BEA034}"/>
                </a:ext>
              </a:extLst>
            </p:cNvPr>
            <p:cNvSpPr txBox="1"/>
            <p:nvPr/>
          </p:nvSpPr>
          <p:spPr>
            <a:xfrm>
              <a:off x="9586126" y="4058519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6. BAB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84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1.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نَصَرَ – يَنْصُرُ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CEEFA296-7024-9D62-DEAD-0C0A771E5960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B147125-4E01-CC10-274A-D5377632FF26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1D80D77-1A0E-476E-7690-24A16233BE40}"/>
              </a:ext>
            </a:extLst>
          </p:cNvPr>
          <p:cNvSpPr txBox="1"/>
          <p:nvPr/>
        </p:nvSpPr>
        <p:spPr>
          <a:xfrm>
            <a:off x="240820" y="6039766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نَصَرَ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63C56A1D-40F8-8769-7BC5-B34DBDE05A2B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Amr’a</a:t>
            </a:r>
            <a:r>
              <a:rPr lang="tr-TR" dirty="0"/>
              <a:t> yardım etti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EBAD8D9-72E5-CC8E-5DD9-7EE4B2638B0F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3A66D21-AB6C-4185-EC74-550458847AFC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خَرَجَ زَيْدٌ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EAF837B5-5819-F146-BAC1-C41E005577CC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Çıktı</a:t>
            </a:r>
          </a:p>
        </p:txBody>
      </p:sp>
    </p:spTree>
    <p:extLst>
      <p:ext uri="{BB962C8B-B14F-4D97-AF65-F5344CB8AC3E}">
        <p14:creationId xmlns:p14="http://schemas.microsoft.com/office/powerpoint/2010/main" val="143748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2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ضَرَبَ – يَضْرِبُ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22EF7C76-ADD6-F18B-81A1-3D2A86F1E87E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DA41C6F-15D6-3ED4-7DDC-57F7A424ECA7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EFDBE70-7132-C9C0-3C2E-5A6F9A0C90BC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ضَرَبَ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6BA0B78-A413-A9B3-0852-A18812E26E92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Amr’a</a:t>
            </a:r>
            <a:r>
              <a:rPr lang="tr-TR" dirty="0"/>
              <a:t> dövdü.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32C13A2-EAF2-2F66-867E-26F5304826A8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EBDDAC7E-6EA9-EE1C-343D-92D944D93833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جَلَسَ زَيْدٌ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2C07B7E-C743-798E-D1B5-79C98FC58A70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Oturdu.</a:t>
            </a:r>
          </a:p>
        </p:txBody>
      </p:sp>
    </p:spTree>
    <p:extLst>
      <p:ext uri="{BB962C8B-B14F-4D97-AF65-F5344CB8AC3E}">
        <p14:creationId xmlns:p14="http://schemas.microsoft.com/office/powerpoint/2010/main" val="38760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3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fiilinin mazide ve </a:t>
            </a:r>
            <a:r>
              <a:rPr lang="tr-TR" sz="1200" dirty="0" err="1">
                <a:solidFill>
                  <a:schemeClr val="tx1"/>
                </a:solidFill>
              </a:rPr>
              <a:t>muzaride</a:t>
            </a:r>
            <a:r>
              <a:rPr lang="tr-TR" sz="1200" dirty="0">
                <a:solidFill>
                  <a:schemeClr val="tx1"/>
                </a:solidFill>
              </a:rPr>
              <a:t> </a:t>
            </a:r>
            <a:r>
              <a:rPr lang="tr-TR" sz="1200" dirty="0" err="1">
                <a:solidFill>
                  <a:schemeClr val="tx1"/>
                </a:solidFill>
              </a:rPr>
              <a:t>üstünlü</a:t>
            </a:r>
            <a:r>
              <a:rPr lang="tr-TR" sz="1200" dirty="0">
                <a:solidFill>
                  <a:schemeClr val="tx1"/>
                </a:solidFill>
              </a:rPr>
              <a:t> olmasıdır.</a:t>
            </a:r>
            <a:r>
              <a:rPr lang="ar-AE" sz="12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veya Lamel Fiilini Boğaz harflerinden birinin olması</a:t>
            </a:r>
            <a:endParaRPr lang="tr-TR" sz="1200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فَتَحَ – يَفْتَحُ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0A3B0587-1DA3-650E-68C0-1B0E31956F41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BB5E661-615D-F0BF-DE5D-27770214D945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A0F4FD8-6BD7-F4EC-0F3B-A4D642EE8F03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عَلِمَ زَيْدٌ الْمَسْئَلَةَ</a:t>
            </a: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7D84F06-B658-82EE-F45C-53D13729247E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Kapıyı Açtı.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6C309D4-3DEA-672F-B6D2-BC2250314BF3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6EB190F-D272-0356-955E-7CACD376EAE8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ذَهَبَ زَيْدٌ</a:t>
            </a:r>
            <a:endParaRPr lang="tr-TR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48A75C6-617B-B64F-7CEB-869FB33D1A78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Gitti.</a:t>
            </a:r>
          </a:p>
        </p:txBody>
      </p:sp>
    </p:spTree>
    <p:extLst>
      <p:ext uri="{BB962C8B-B14F-4D97-AF65-F5344CB8AC3E}">
        <p14:creationId xmlns:p14="http://schemas.microsoft.com/office/powerpoint/2010/main" val="197001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4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,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عَلِمَ – يَعْلَمُ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10A421E6-10C5-D330-E2B8-BA9BC886695A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A82DAE2-92BF-D746-F4CE-C0D5EB8517DA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22AF0A4-147A-A85F-B933-B3949AAE23A2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عَلِمَ زَيْدٌ الْمَسْئَلَةَ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6427ECC-4AB4-699A-4D04-A7DC889F9DD7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</a:t>
            </a:r>
            <a:r>
              <a:rPr lang="ar-AE" dirty="0"/>
              <a:t> </a:t>
            </a:r>
            <a:r>
              <a:rPr lang="tr-TR" dirty="0"/>
              <a:t>Meseleyi Bildi.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8569DA46-16CC-2F1D-2EAD-1590BEB84664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96BEBE1-E1B7-2BB9-1A3F-0A9C4369DDC7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وَجِلَ زَيْدٌ</a:t>
            </a:r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FB5B4BDD-81DD-2605-42BE-A7DE838E3EDC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Korktu.</a:t>
            </a:r>
          </a:p>
        </p:txBody>
      </p:sp>
    </p:spTree>
    <p:extLst>
      <p:ext uri="{BB962C8B-B14F-4D97-AF65-F5344CB8AC3E}">
        <p14:creationId xmlns:p14="http://schemas.microsoft.com/office/powerpoint/2010/main" val="11724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5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فَعُلَ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Ancak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فَعُلَ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حَسُنَ – يَحْسُنُ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B54AC9A5-0960-F7FF-51B4-16170C39A796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EB4AB0C-D114-5DBD-BD46-1962650B88B5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2D93296C-2C90-D200-E369-5AFED55B236E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حَسُنَ زَيْدٌ</a:t>
            </a:r>
            <a:endParaRPr lang="tr-TR" dirty="0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D49C6B61-A306-AF2C-58E0-5A7314428BFF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Güzel Oldu.</a:t>
            </a:r>
          </a:p>
        </p:txBody>
      </p:sp>
    </p:spTree>
    <p:extLst>
      <p:ext uri="{BB962C8B-B14F-4D97-AF65-F5344CB8AC3E}">
        <p14:creationId xmlns:p14="http://schemas.microsoft.com/office/powerpoint/2010/main" val="158510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6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حَسِبَ – يَحْسِبُ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67B38F70-5AA0-C01D-9AE6-3891308E0FD1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8C1F677-EE4A-8D85-1D06-A3CCD2463C84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9D8474C-298F-FA06-67A2-1A72279C511C}"/>
              </a:ext>
            </a:extLst>
          </p:cNvPr>
          <p:cNvSpPr txBox="1"/>
          <p:nvPr/>
        </p:nvSpPr>
        <p:spPr>
          <a:xfrm>
            <a:off x="240820" y="6039766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حَسِبَ زَيْدٌ عَمْرًا فَضِلًا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845EE09-892D-B146-4C97-314499796742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Amr’ı</a:t>
            </a:r>
            <a:r>
              <a:rPr lang="tr-TR" dirty="0"/>
              <a:t> Faziletli Zannetti.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6CC82C6-CAF8-C794-CCF4-435379231F05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9A40184-D636-5E07-EF22-39BDF57CE30E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وَثِقَ زَيْدٌ</a:t>
            </a:r>
            <a:endParaRPr lang="tr-TR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13F3A0F-FCF4-8F06-12C2-EDA06DA15B0B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Güvendi.</a:t>
            </a:r>
          </a:p>
        </p:txBody>
      </p:sp>
    </p:spTree>
    <p:extLst>
      <p:ext uri="{BB962C8B-B14F-4D97-AF65-F5344CB8AC3E}">
        <p14:creationId xmlns:p14="http://schemas.microsoft.com/office/powerpoint/2010/main" val="4761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79C461CA-515D-7874-9B5A-72850FF6879B}"/>
              </a:ext>
            </a:extLst>
          </p:cNvPr>
          <p:cNvSpPr txBox="1">
            <a:spLocks/>
          </p:cNvSpPr>
          <p:nvPr/>
        </p:nvSpPr>
        <p:spPr>
          <a:xfrm>
            <a:off x="838200" y="176842"/>
            <a:ext cx="10515600" cy="11386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68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dirty="0"/>
              <a:t>SÜLASİ MEZİD BABLAR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D3448AD-94A0-3A74-9D3B-88D3307B5360}"/>
              </a:ext>
            </a:extLst>
          </p:cNvPr>
          <p:cNvSpPr/>
          <p:nvPr/>
        </p:nvSpPr>
        <p:spPr>
          <a:xfrm>
            <a:off x="838200" y="1453011"/>
            <a:ext cx="10515600" cy="5228147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AE" dirty="0"/>
              <a:t>ْ</a:t>
            </a:r>
            <a:endParaRPr lang="tr-TR" dirty="0"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D3F7568A-DE53-DD8C-F882-F95FDA144F97}"/>
              </a:ext>
            </a:extLst>
          </p:cNvPr>
          <p:cNvSpPr/>
          <p:nvPr/>
        </p:nvSpPr>
        <p:spPr>
          <a:xfrm>
            <a:off x="1476375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1. NEVİ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911C4DAF-28FA-69D0-99B5-E01BA3B2A657}"/>
              </a:ext>
            </a:extLst>
          </p:cNvPr>
          <p:cNvSpPr/>
          <p:nvPr/>
        </p:nvSpPr>
        <p:spPr>
          <a:xfrm>
            <a:off x="5257800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2. NEVİ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802E9B93-A881-CE24-F79E-AD2CB68C15AA}"/>
              </a:ext>
            </a:extLst>
          </p:cNvPr>
          <p:cNvSpPr/>
          <p:nvPr/>
        </p:nvSpPr>
        <p:spPr>
          <a:xfrm>
            <a:off x="9039227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3.NEVİ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89603F0F-5AEF-4CE0-5C84-4A3E6DF6DA3C}"/>
              </a:ext>
            </a:extLst>
          </p:cNvPr>
          <p:cNvSpPr/>
          <p:nvPr/>
        </p:nvSpPr>
        <p:spPr>
          <a:xfrm>
            <a:off x="1631156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تَفْعِيلْ</a:t>
            </a:r>
            <a:endParaRPr lang="tr-TR" sz="2400" dirty="0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63C62F5F-7013-7159-028C-65E521E78175}"/>
              </a:ext>
            </a:extLst>
          </p:cNvPr>
          <p:cNvSpPr/>
          <p:nvPr/>
        </p:nvSpPr>
        <p:spPr>
          <a:xfrm>
            <a:off x="1631156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مُفَاعَلَة</a:t>
            </a:r>
            <a:endParaRPr lang="tr-TR" sz="2400" dirty="0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CB2E8E5-15EC-2EDF-6866-86E32EF64AC3}"/>
              </a:ext>
            </a:extLst>
          </p:cNvPr>
          <p:cNvSpPr/>
          <p:nvPr/>
        </p:nvSpPr>
        <p:spPr>
          <a:xfrm>
            <a:off x="1631156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اِفْعَل</a:t>
            </a:r>
            <a:endParaRPr lang="tr-TR" sz="2400" dirty="0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D40AE0F-A4D4-65EC-F4EE-D2DE255EF36C}"/>
              </a:ext>
            </a:extLst>
          </p:cNvPr>
          <p:cNvSpPr/>
          <p:nvPr/>
        </p:nvSpPr>
        <p:spPr>
          <a:xfrm>
            <a:off x="5412581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اِفْتِعَالْ</a:t>
            </a:r>
            <a:endParaRPr lang="tr-TR" sz="2400" dirty="0"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91754700-9D1A-529A-56D8-C17F06C956B6}"/>
              </a:ext>
            </a:extLst>
          </p:cNvPr>
          <p:cNvSpPr/>
          <p:nvPr/>
        </p:nvSpPr>
        <p:spPr>
          <a:xfrm>
            <a:off x="5412581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اِفعِلَالْ</a:t>
            </a:r>
            <a:endParaRPr lang="tr-TR" sz="2400" dirty="0"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3B0329CD-12E6-CC2A-7383-FBD66BAAA47A}"/>
              </a:ext>
            </a:extLst>
          </p:cNvPr>
          <p:cNvSpPr/>
          <p:nvPr/>
        </p:nvSpPr>
        <p:spPr>
          <a:xfrm>
            <a:off x="5412581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اِنْفِعَالْ</a:t>
            </a:r>
            <a:endParaRPr lang="tr-TR" sz="2400" dirty="0"/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995BF2A5-2130-4A73-4B40-6B29A8E98E77}"/>
              </a:ext>
            </a:extLst>
          </p:cNvPr>
          <p:cNvSpPr/>
          <p:nvPr/>
        </p:nvSpPr>
        <p:spPr>
          <a:xfrm>
            <a:off x="5412581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تَفَعُّل</a:t>
            </a:r>
            <a:endParaRPr lang="tr-TR" sz="2400" dirty="0"/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7835F49D-2F29-D1FA-B8E1-DC7790666D8B}"/>
              </a:ext>
            </a:extLst>
          </p:cNvPr>
          <p:cNvSpPr/>
          <p:nvPr/>
        </p:nvSpPr>
        <p:spPr>
          <a:xfrm>
            <a:off x="5412581" y="5280038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تَفَاعُلْ</a:t>
            </a:r>
            <a:endParaRPr lang="tr-TR" sz="2400" dirty="0"/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3B295E69-6286-6485-1F65-DC910A5E7DBA}"/>
              </a:ext>
            </a:extLst>
          </p:cNvPr>
          <p:cNvSpPr/>
          <p:nvPr/>
        </p:nvSpPr>
        <p:spPr>
          <a:xfrm>
            <a:off x="9348789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اِفْعِيعَالْ</a:t>
            </a:r>
            <a:endParaRPr lang="tr-TR" sz="2400" dirty="0"/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020B9EB4-B12B-15D2-2CDE-2C26A576A8A8}"/>
              </a:ext>
            </a:extLst>
          </p:cNvPr>
          <p:cNvSpPr/>
          <p:nvPr/>
        </p:nvSpPr>
        <p:spPr>
          <a:xfrm>
            <a:off x="9348789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اِفْعِوَّالْ</a:t>
            </a:r>
            <a:endParaRPr lang="tr-TR" sz="2400" dirty="0"/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A9D5BA4E-799C-9C1F-2433-093781773619}"/>
              </a:ext>
            </a:extLst>
          </p:cNvPr>
          <p:cNvSpPr/>
          <p:nvPr/>
        </p:nvSpPr>
        <p:spPr>
          <a:xfrm>
            <a:off x="9348789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اِسْتِفْعَالْ</a:t>
            </a:r>
            <a:endParaRPr lang="tr-TR" sz="2400" dirty="0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1445398-DE76-9901-EBD8-78A2074808A7}"/>
              </a:ext>
            </a:extLst>
          </p:cNvPr>
          <p:cNvSpPr/>
          <p:nvPr/>
        </p:nvSpPr>
        <p:spPr>
          <a:xfrm>
            <a:off x="9348789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اِفْعِيلَالْ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39285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اِفْعَل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 – يُفْعِلُ - اِفْعَالًا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اَكْرَمَ – يُكْرِمُ - اِكْرَامًا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</p:spTree>
    <p:extLst>
      <p:ext uri="{BB962C8B-B14F-4D97-AF65-F5344CB8AC3E}">
        <p14:creationId xmlns:p14="http://schemas.microsoft.com/office/powerpoint/2010/main" val="270279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تَفْعِيلْ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bir harf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Teksir (Çokluk) İçindir.</a:t>
            </a:r>
          </a:p>
          <a:p>
            <a:r>
              <a:rPr lang="tr-TR" dirty="0">
                <a:solidFill>
                  <a:schemeClr val="tx1"/>
                </a:solidFill>
              </a:rPr>
              <a:t>Fiil veya Fail  veya Meful de bulunabilir.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فَعَّلَ – يُفَعِّلُ - تَفْعِيلًا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فَرَّحَ – يُفَرِّحُ - تَفْرِيحًا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B2BAFADC-F4D7-1E24-FACD-44F09F60A8DC}"/>
              </a:ext>
            </a:extLst>
          </p:cNvPr>
          <p:cNvSpPr/>
          <p:nvPr/>
        </p:nvSpPr>
        <p:spPr>
          <a:xfrm rot="18876393">
            <a:off x="-819269" y="-172992"/>
            <a:ext cx="2549208" cy="1259992"/>
          </a:xfrm>
          <a:prstGeom prst="triangle">
            <a:avLst>
              <a:gd name="adj" fmla="val 50270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</p:spTree>
    <p:extLst>
      <p:ext uri="{BB962C8B-B14F-4D97-AF65-F5344CB8AC3E}">
        <p14:creationId xmlns:p14="http://schemas.microsoft.com/office/powerpoint/2010/main" val="351061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3.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مُفَاعَلَة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harfi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kişi arasında müşareket içindir. Bazen 1 kişi için olur.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0" y="2660554"/>
            <a:ext cx="3887835" cy="2036137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فَاعَلَ – يُفَاعِلُ - مُفَاعَلةً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وَفِعَالًا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وَفِيعَالًا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4E134ADB-7908-A9FF-5CE0-9B05BB295681}"/>
              </a:ext>
            </a:extLst>
          </p:cNvPr>
          <p:cNvSpPr/>
          <p:nvPr/>
        </p:nvSpPr>
        <p:spPr>
          <a:xfrm rot="18876393">
            <a:off x="-824444" y="-170828"/>
            <a:ext cx="2555288" cy="1259992"/>
          </a:xfrm>
          <a:prstGeom prst="triangle">
            <a:avLst>
              <a:gd name="adj" fmla="val 50457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  <p:sp>
        <p:nvSpPr>
          <p:cNvPr id="3" name="Dikdörtgen: Üst Köşeleri Yuvarlatılmış 2">
            <a:extLst>
              <a:ext uri="{FF2B5EF4-FFF2-40B4-BE49-F238E27FC236}">
                <a16:creationId xmlns:a16="http://schemas.microsoft.com/office/drawing/2014/main" id="{16556FBF-2049-6A2C-26B7-A2557790BAD6}"/>
              </a:ext>
            </a:extLst>
          </p:cNvPr>
          <p:cNvSpPr/>
          <p:nvPr/>
        </p:nvSpPr>
        <p:spPr>
          <a:xfrm>
            <a:off x="4152081" y="4593784"/>
            <a:ext cx="3887835" cy="2097962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قَاتَلَ – يُقَاتِلُ - مُقَاتَلَةََ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وَقِتَالًا   	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وَقِيتَالًا   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1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1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اِنْفِعَالْ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Nun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ن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اِنْفَعَلَ – يَنْفَعِلُ - اِنْفِعَالًا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131426" y="4543425"/>
            <a:ext cx="393192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اِنْكَسَرَ– يَنْكَسِرُ- اِنْكِسَارًا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86708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2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اِفْتِعَالْ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13905"/>
            <a:ext cx="3709359" cy="1200670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 harfleri ziyadesi ile mazisinin </a:t>
            </a:r>
            <a:r>
              <a:rPr lang="ar-AE" dirty="0">
                <a:solidFill>
                  <a:schemeClr val="tx1"/>
                </a:solidFill>
              </a:rPr>
              <a:t>5</a:t>
            </a:r>
            <a:r>
              <a:rPr lang="tr-TR" dirty="0">
                <a:solidFill>
                  <a:schemeClr val="tx1"/>
                </a:solidFill>
              </a:rPr>
              <a:t>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اِفْتَعَلَ – يَفْتَعِلُ - اِفْتِعَالًا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31673" y="4543425"/>
            <a:ext cx="421014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اِجْتَمَعَ – يَجْتَمِعُ - اِجْتِمَاعًا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215581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3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اِفعِلَالْ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05593"/>
            <a:ext cx="3709359" cy="120898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sonuna lamel fiili cinsinden bir harf 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اِفْعَلَّ – يَفْعَلُّ - اِفْعِلَالًا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95748" y="4543425"/>
            <a:ext cx="400050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اِحْمَرَّ – يَحْمَرُّ - اِحْمِرَارًا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167172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4</a:t>
            </a:r>
            <a:r>
              <a:rPr lang="tr-TR" dirty="0"/>
              <a:t>. BAB</a:t>
            </a:r>
          </a:p>
          <a:p>
            <a:pPr algn="ctr"/>
            <a:r>
              <a:rPr lang="tr-TR" sz="3200" b="1" dirty="0"/>
              <a:t>  </a:t>
            </a:r>
            <a:r>
              <a:rPr lang="ar-AE" sz="3200" dirty="0"/>
              <a:t> </a:t>
            </a:r>
            <a:r>
              <a:rPr lang="ar-AE" sz="3200" b="1" dirty="0"/>
              <a:t>تَفَعُّل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14153"/>
            <a:ext cx="3709359" cy="130042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Tekellüf içindir(Talep edilen bir şeyin derece </a:t>
            </a:r>
            <a:r>
              <a:rPr lang="tr-TR" dirty="0" err="1">
                <a:solidFill>
                  <a:schemeClr val="tx1"/>
                </a:solidFill>
              </a:rPr>
              <a:t>derece</a:t>
            </a:r>
            <a:r>
              <a:rPr lang="tr-TR" dirty="0">
                <a:solidFill>
                  <a:schemeClr val="tx1"/>
                </a:solidFill>
              </a:rPr>
              <a:t> elde edilmesidir.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تَفَعَّلَ – يَتَفَعَّلُ - تَفَعُّلًا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تَكَلَّمَ – يَتَكَلَّمُ - تَكَلُّمًا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3596893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5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تَفَاعُلْ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yada daha çok kişi arasında müşareket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171411" y="2868371"/>
            <a:ext cx="393192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تَفَاعَلَ – يَتَفَاعَلُ - تَفَاعُلًا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تَبَاعَدَ – يَتَبَاعَدُ - تَبَاعُدًا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23066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188228" y="2653995"/>
            <a:ext cx="3501045" cy="155000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اِسْتِفْعَالْ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88476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Se(</a:t>
            </a:r>
            <a:r>
              <a:rPr lang="ar-AE" dirty="0">
                <a:solidFill>
                  <a:schemeClr val="tx1"/>
                </a:solidFill>
              </a:rPr>
              <a:t>س</a:t>
            </a:r>
            <a:r>
              <a:rPr lang="tr-TR" dirty="0">
                <a:solidFill>
                  <a:schemeClr val="tx1"/>
                </a:solidFill>
              </a:rPr>
              <a:t>), 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113607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</a:t>
            </a:r>
            <a:r>
              <a:rPr lang="ar-AE" dirty="0">
                <a:solidFill>
                  <a:schemeClr val="tx1"/>
                </a:solidFill>
              </a:rPr>
              <a:t>.</a:t>
            </a:r>
            <a:r>
              <a:rPr lang="tr-TR" dirty="0">
                <a:solidFill>
                  <a:schemeClr val="tx1"/>
                </a:solidFill>
              </a:rPr>
              <a:t>Çoğu kere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olur.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797836" y="2868371"/>
            <a:ext cx="428055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اِسْتَفْعَلَ – يَسْتَفْعِلُ - اِسْتِفْعَالًا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532910" y="4543425"/>
            <a:ext cx="487957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اِسْتَخْرَجَ – يَسْتَخْرِجُ - اِسْتِخْرَاجًا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426528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378035" y="2626822"/>
            <a:ext cx="3435930" cy="160435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اِفْعِيعَالْ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164676" y="789709"/>
            <a:ext cx="3898669" cy="152486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4037463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913717" y="2868371"/>
            <a:ext cx="418684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اِفْعَوْعَلَ – يَفْعَوْعِلُ – اِفْعِيعَالًا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668684" y="4543423"/>
            <a:ext cx="4854632" cy="10344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اِعْشَوْشَبَ – يَعْشَوْشِبُ - اِعْشِيشَابًا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84808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461163" y="2651760"/>
            <a:ext cx="3269674" cy="15544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3. BAB</a:t>
            </a:r>
          </a:p>
          <a:p>
            <a:pPr algn="ctr"/>
            <a:r>
              <a:rPr lang="ar-AE" sz="3200" b="1" dirty="0"/>
              <a:t>اِفْعِوَّالْ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2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Bu bab günlük </a:t>
            </a:r>
            <a:r>
              <a:rPr lang="tr-TR" dirty="0" err="1">
                <a:solidFill>
                  <a:schemeClr val="tx1"/>
                </a:solidFill>
              </a:rPr>
              <a:t>arapça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da çok az kullanılır.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847215" y="2868371"/>
            <a:ext cx="427274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اِفْعَوَّلَ – يَفْعَوِّلُ - اِفْعِوَّالًا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946716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اِجْلَوَّذَ – يَجْلَوِّذُ - اِجْلِوَّاذًا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400660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4. BAB</a:t>
            </a:r>
          </a:p>
          <a:p>
            <a:pPr algn="ctr"/>
            <a:r>
              <a:rPr lang="ar-AE" sz="3200" b="1" dirty="0"/>
              <a:t>اِفْعِيلَالْ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10419" y="781396"/>
            <a:ext cx="4171160" cy="153317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 ve sonuna Lamel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2381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Ancak bu </a:t>
            </a:r>
            <a:r>
              <a:rPr lang="tr-TR" dirty="0" err="1">
                <a:solidFill>
                  <a:schemeClr val="tx1"/>
                </a:solidFill>
              </a:rPr>
              <a:t>bab’ın</a:t>
            </a:r>
            <a:r>
              <a:rPr lang="tr-TR" dirty="0">
                <a:solidFill>
                  <a:schemeClr val="tx1"/>
                </a:solidFill>
              </a:rPr>
              <a:t> binası </a:t>
            </a:r>
            <a:r>
              <a:rPr lang="ar-AE" sz="1800" b="1" dirty="0"/>
              <a:t>اِفْعِلَالْ</a:t>
            </a:r>
            <a:r>
              <a:rPr lang="tr-TR" sz="1800" b="1" dirty="0"/>
              <a:t> </a:t>
            </a:r>
            <a:r>
              <a:rPr lang="tr-TR" sz="1800" dirty="0" err="1"/>
              <a:t>bab’ından</a:t>
            </a:r>
            <a:r>
              <a:rPr lang="tr-TR" sz="1800" dirty="0"/>
              <a:t> daha mübalağalıdır.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اِفْعَالَّ – يَفْعَالُّ - اِفْعِيلَالًا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890812" y="4498039"/>
            <a:ext cx="441037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اِحْمَارَّ – يَحْمَارُّ - اِحْمِيرَارًا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97540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1176</Words>
  <Application>Microsoft Office PowerPoint</Application>
  <PresentationFormat>Geniş ekran</PresentationFormat>
  <Paragraphs>259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Teması</vt:lpstr>
      <vt:lpstr>SÜLASİ MÜCERRED BABLAR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Ayhan KARAMAN</dc:creator>
  <cp:lastModifiedBy>Ayhan KARAMAN</cp:lastModifiedBy>
  <cp:revision>12</cp:revision>
  <dcterms:created xsi:type="dcterms:W3CDTF">2026-08-20T13:56:45Z</dcterms:created>
  <dcterms:modified xsi:type="dcterms:W3CDTF">2026-08-29T12:12:07Z</dcterms:modified>
</cp:coreProperties>
</file>